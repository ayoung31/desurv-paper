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7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8" r:id="rId14"/>
    <p:sldId id="268" r:id="rId15"/>
    <p:sldId id="269" r:id="rId16"/>
    <p:sldId id="272" r:id="rId17"/>
    <p:sldId id="273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35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3" d="100"/>
          <a:sy n="73" d="100"/>
        </p:scale>
        <p:origin x="8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B9015F-8541-4684-96DE-AFB3FE5365A1}" type="datetimeFigureOut">
              <a:rPr lang="en-US" smtClean="0"/>
              <a:t>3/16/2026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2B3C84-4D16-456D-9606-1491A67018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9940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2B3C84-4D16-456D-9606-1491A67018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001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2B3C84-4D16-456D-9606-1491A670182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840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ED695-C8E7-471F-BBD8-BB24BB0835EB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0A39E-8353-49C5-A5A2-B59FDF227E4A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1E3E8B-C843-4163-B92F-59F092FBDB47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1C806-C19E-46DC-ACD8-C9195048D08E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96B723-F124-4D5F-887F-AC9F64E8DD73}" type="datetime1">
              <a:rPr lang="en-US" smtClean="0"/>
              <a:t>3/16/2026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CAE690-4706-48BA-A431-A91D1C040836}" type="datetime1">
              <a:rPr lang="en-US" smtClean="0"/>
              <a:t>3/16/2026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F9F49-46B1-4EB7-81A0-47095C114936}" type="datetime1">
              <a:rPr lang="en-US" smtClean="0"/>
              <a:t>3/16/2026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1" name="SlideFooter"/>
          <p:cNvSpPr txBox="1">
            <a:spLocks noGrp="1"/>
          </p:cNvSpPr>
          <p:nvPr/>
        </p:nvSpPr>
        <p:spPr>
          <a:xfrm>
            <a:off x="182880" y="6492240"/>
            <a:ext cx="11887200" cy="347472"/>
          </a:xfrm>
          <a:prstGeom prst="rect">
            <a:avLst/>
          </a:prstGeom>
          <a:noFill/>
        </p:spPr>
        <p:txBody>
          <a:bodyPr wrap="none" lIns="0" tIns="0" rIns="0" bIns="0"/>
          <a:lstStyle/>
          <a:p>
            <a:pPr algn="ctr"/>
            <a:r>
              <a:rPr lang="en-US" sz="1600" dirty="0">
                <a:solidFill>
                  <a:srgbClr val="CCD0D8"/>
                </a:solidFill>
                <a:latin typeface="Calibri"/>
              </a:rPr>
              <a:t>Young et al.  |  DeSurv  |  2026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3CF5A-68EE-4E7B-A27F-112B1AAAD0E6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6BAFB-53DD-4248-B9CE-140869405399}" type="datetime1">
              <a:rPr lang="en-US" smtClean="0"/>
              <a:t>3/16/2026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AC48E-0F40-411F-A74E-C02D59E3AE53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AF5AE-38DB-4E8D-B548-BA7A05A8D332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0E0814-D489-4C22-BB43-A9658241D06C}" type="datetime1">
              <a:rPr lang="en-US" smtClean="0"/>
              <a:t>3/16/2026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34353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21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jpeg"/><Relationship Id="rId5" Type="http://schemas.microsoft.com/office/2007/relationships/hdphoto" Target="../media/hdphoto1.wdp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457200" y="1828800"/>
            <a:ext cx="11274552" cy="38100"/>
          </a:xfrm>
          <a:prstGeom prst="rect">
            <a:avLst/>
          </a:prstGeom>
          <a:solidFill>
            <a:srgbClr val="E07B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938528"/>
            <a:ext cx="1127455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 dirty="0">
                <a:solidFill>
                  <a:schemeClr val="tx2">
                    <a:lumMod val="75000"/>
                  </a:schemeClr>
                </a:solidFill>
                <a:latin typeface="Calibri"/>
              </a:rPr>
              <a:t>Survival-Guided Matrix Factorization
Identifies Reproducible Prognostic Programs
in Pancreatic Cancer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15968"/>
            <a:ext cx="6400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 dirty="0">
                <a:solidFill>
                  <a:schemeClr val="tx2">
                    <a:lumMod val="75000"/>
                  </a:schemeClr>
                </a:solidFill>
                <a:latin typeface="Calibri"/>
              </a:rPr>
              <a:t>Amber M. Young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91456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 dirty="0">
                <a:solidFill>
                  <a:schemeClr val="tx2">
                    <a:lumMod val="75000"/>
                  </a:schemeClr>
                </a:solidFill>
                <a:latin typeface="Calibri"/>
              </a:rPr>
              <a:t>Department of Biostatistics  |  University of North Carolina at Chapel Hill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989320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dirty="0">
                <a:solidFill>
                  <a:srgbClr val="99BBFF"/>
                </a:solidFill>
                <a:latin typeface="Calibri"/>
              </a:rPr>
              <a:t>R package: github.com/ayoung31/</a:t>
            </a:r>
            <a:r>
              <a:rPr b="0" i="1" dirty="0" err="1">
                <a:solidFill>
                  <a:srgbClr val="99BBFF"/>
                </a:solidFill>
                <a:latin typeface="Calibri"/>
              </a:rPr>
              <a:t>DeSurv</a:t>
            </a:r>
            <a:endParaRPr b="0" i="1" dirty="0">
              <a:solidFill>
                <a:srgbClr val="99BBFF"/>
              </a:solidFill>
              <a:latin typeface="Calibri"/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F021CDF-90AB-D698-7FDA-FB65E2E92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Calibri"/>
              </a:rPr>
              <a:t>The Problem: </a:t>
            </a:r>
            <a:r>
              <a:rPr lang="en-US" sz="2600" b="1" i="0" dirty="0">
                <a:solidFill>
                  <a:srgbClr val="FFFFFF"/>
                </a:solidFill>
                <a:latin typeface="Calibri"/>
              </a:rPr>
              <a:t>Dominant biological structure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 ≠ Prognosis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dirty="0">
                <a:solidFill>
                  <a:srgbClr val="CCD0D8"/>
                </a:solidFill>
                <a:latin typeface="Calibri"/>
              </a:rPr>
              <a:t>Standard NMF m</a:t>
            </a:r>
            <a:r>
              <a:rPr lang="en-US" b="0" i="1" dirty="0">
                <a:solidFill>
                  <a:srgbClr val="CCD0D8"/>
                </a:solidFill>
                <a:latin typeface="Calibri"/>
              </a:rPr>
              <a:t>inimizes reconstruction error </a:t>
            </a:r>
            <a:r>
              <a:rPr b="0" i="1" dirty="0">
                <a:solidFill>
                  <a:srgbClr val="CCD0D8"/>
                </a:solidFill>
                <a:latin typeface="Calibri"/>
              </a:rPr>
              <a:t>— but dominant signals are often not prognostic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234440"/>
            <a:ext cx="6335942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228600">
              <a:spcAft>
                <a:spcPts val="1200"/>
              </a:spcAft>
              <a:buChar char="•"/>
            </a:pPr>
            <a:r>
              <a:rPr dirty="0">
                <a:solidFill>
                  <a:srgbClr val="444C5A"/>
                </a:solidFill>
                <a:latin typeface="Calibri"/>
              </a:rPr>
              <a:t>Bulk tumor expression is a mixture: malignant cells</a:t>
            </a:r>
            <a:r>
              <a:rPr lang="en-US" dirty="0">
                <a:solidFill>
                  <a:srgbClr val="444C5A"/>
                </a:solidFill>
                <a:latin typeface="Calibri"/>
              </a:rPr>
              <a:t>, </a:t>
            </a:r>
            <a:r>
              <a:rPr dirty="0">
                <a:solidFill>
                  <a:srgbClr val="444C5A"/>
                </a:solidFill>
                <a:latin typeface="Calibri"/>
              </a:rPr>
              <a:t>fibroblasts, immune infiltrate</a:t>
            </a:r>
          </a:p>
          <a:p>
            <a:pPr marL="342900" indent="-228600">
              <a:spcAft>
                <a:spcPts val="1200"/>
              </a:spcAft>
              <a:buChar char="•"/>
            </a:pPr>
            <a:r>
              <a:rPr dirty="0">
                <a:solidFill>
                  <a:srgbClr val="444C5A"/>
                </a:solidFill>
                <a:latin typeface="Calibri"/>
              </a:rPr>
              <a:t>Standard NMF minimizes reconstruction error</a:t>
            </a:r>
            <a:br>
              <a:rPr dirty="0">
                <a:solidFill>
                  <a:srgbClr val="444C5A"/>
                </a:solidFill>
                <a:latin typeface="Calibri"/>
              </a:rPr>
            </a:br>
            <a:r>
              <a:rPr dirty="0">
                <a:solidFill>
                  <a:srgbClr val="444C5A"/>
                </a:solidFill>
                <a:latin typeface="Calibri"/>
              </a:rPr>
              <a:t>→ captures </a:t>
            </a:r>
            <a:r>
              <a:rPr lang="en-US" dirty="0">
                <a:solidFill>
                  <a:srgbClr val="444C5A"/>
                </a:solidFill>
                <a:latin typeface="Calibri"/>
              </a:rPr>
              <a:t>dominant expression</a:t>
            </a:r>
            <a:r>
              <a:rPr dirty="0">
                <a:solidFill>
                  <a:srgbClr val="444C5A"/>
                </a:solidFill>
                <a:latin typeface="Calibri"/>
              </a:rPr>
              <a:t> signals</a:t>
            </a:r>
          </a:p>
          <a:p>
            <a:pPr marL="342900" indent="-228600">
              <a:spcAft>
                <a:spcPts val="1200"/>
              </a:spcAft>
              <a:buChar char="•"/>
            </a:pPr>
            <a:r>
              <a:rPr lang="en-US" dirty="0">
                <a:solidFill>
                  <a:srgbClr val="444C5A"/>
                </a:solidFill>
                <a:latin typeface="Calibri"/>
              </a:rPr>
              <a:t>Dominant </a:t>
            </a:r>
            <a:r>
              <a:rPr dirty="0">
                <a:solidFill>
                  <a:srgbClr val="444C5A"/>
                </a:solidFill>
                <a:latin typeface="Calibri"/>
              </a:rPr>
              <a:t>signals ≈ tissue composition / tumor purity</a:t>
            </a:r>
            <a:br>
              <a:rPr dirty="0">
                <a:solidFill>
                  <a:srgbClr val="444C5A"/>
                </a:solidFill>
                <a:latin typeface="Calibri"/>
              </a:rPr>
            </a:br>
            <a:r>
              <a:rPr dirty="0">
                <a:solidFill>
                  <a:srgbClr val="444C5A"/>
                </a:solidFill>
                <a:latin typeface="Calibri"/>
              </a:rPr>
              <a:t>→ often outcome-neutral</a:t>
            </a:r>
          </a:p>
          <a:p>
            <a:pPr marL="342900" indent="-228600">
              <a:spcAft>
                <a:spcPts val="1200"/>
              </a:spcAft>
              <a:buChar char="•"/>
            </a:pPr>
            <a:r>
              <a:rPr dirty="0">
                <a:solidFill>
                  <a:srgbClr val="444C5A"/>
                </a:solidFill>
                <a:latin typeface="Calibri"/>
              </a:rPr>
              <a:t>Standard workflow: discover</a:t>
            </a:r>
            <a:r>
              <a:rPr lang="en-US" dirty="0">
                <a:solidFill>
                  <a:srgbClr val="444C5A"/>
                </a:solidFill>
                <a:latin typeface="Calibri"/>
              </a:rPr>
              <a:t> gene programs </a:t>
            </a:r>
            <a:r>
              <a:rPr dirty="0">
                <a:solidFill>
                  <a:srgbClr val="444C5A"/>
                </a:solidFill>
                <a:latin typeface="Calibri"/>
              </a:rPr>
              <a:t>unsupervised,</a:t>
            </a:r>
            <a:r>
              <a:rPr lang="en-US" dirty="0">
                <a:solidFill>
                  <a:srgbClr val="444C5A"/>
                </a:solidFill>
                <a:latin typeface="Calibri"/>
              </a:rPr>
              <a:t> </a:t>
            </a:r>
            <a:r>
              <a:rPr dirty="0">
                <a:solidFill>
                  <a:srgbClr val="444C5A"/>
                </a:solidFill>
                <a:latin typeface="Calibri"/>
              </a:rPr>
              <a:t>then evaluate clinical relevance retrospectively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C79B66-3A97-6875-89B0-512722D7ABA6}"/>
              </a:ext>
            </a:extLst>
          </p:cNvPr>
          <p:cNvGrpSpPr/>
          <p:nvPr/>
        </p:nvGrpSpPr>
        <p:grpSpPr>
          <a:xfrm>
            <a:off x="6379534" y="1143000"/>
            <a:ext cx="5665031" cy="1097280"/>
            <a:chOff x="320040" y="4983480"/>
            <a:chExt cx="5577840" cy="1097280"/>
          </a:xfrm>
        </p:grpSpPr>
        <p:sp>
          <p:nvSpPr>
            <p:cNvPr id="6" name="Rectangle 5"/>
            <p:cNvSpPr/>
            <p:nvPr/>
          </p:nvSpPr>
          <p:spPr>
            <a:xfrm>
              <a:off x="320040" y="4983480"/>
              <a:ext cx="5577840" cy="1097280"/>
            </a:xfrm>
            <a:prstGeom prst="rect">
              <a:avLst/>
            </a:prstGeom>
            <a:solidFill>
              <a:srgbClr val="F2F4F7"/>
            </a:solidFill>
            <a:ln>
              <a:solidFill>
                <a:srgbClr val="E07B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00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57200" y="5047488"/>
              <a:ext cx="5303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b="1" i="0" dirty="0">
                  <a:solidFill>
                    <a:srgbClr val="E07B1C"/>
                  </a:solidFill>
                  <a:latin typeface="Calibri"/>
                </a:rPr>
                <a:t>In PDAC specifically: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57200" y="5358384"/>
              <a:ext cx="5394960" cy="6400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b="0" i="0" dirty="0">
                  <a:solidFill>
                    <a:srgbClr val="444C5A"/>
                  </a:solidFill>
                  <a:latin typeface="Calibri"/>
                </a:rPr>
                <a:t>Exocrine cell signal </a:t>
              </a:r>
              <a:r>
                <a:rPr lang="en-US" b="0" i="0" dirty="0">
                  <a:solidFill>
                    <a:srgbClr val="444C5A"/>
                  </a:solidFill>
                  <a:latin typeface="Calibri"/>
                </a:rPr>
                <a:t>reflects </a:t>
              </a:r>
              <a:r>
                <a:rPr b="0" i="0" dirty="0">
                  <a:solidFill>
                    <a:srgbClr val="444C5A"/>
                  </a:solidFill>
                  <a:latin typeface="Calibri"/>
                </a:rPr>
                <a:t>tumor purity. </a:t>
              </a:r>
              <a:endParaRPr lang="en-US" b="0" i="0" dirty="0">
                <a:solidFill>
                  <a:srgbClr val="444C5A"/>
                </a:solidFill>
                <a:latin typeface="Calibri"/>
              </a:endParaRPr>
            </a:p>
            <a:p>
              <a:pPr algn="l"/>
              <a:r>
                <a:rPr b="0" i="0" dirty="0">
                  <a:solidFill>
                    <a:srgbClr val="444C5A"/>
                  </a:solidFill>
                  <a:latin typeface="Calibri"/>
                </a:rPr>
                <a:t>Prognostically neutral.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F665720-AFA8-F054-F475-7358A929D0C6}"/>
              </a:ext>
            </a:extLst>
          </p:cNvPr>
          <p:cNvGrpSpPr/>
          <p:nvPr/>
        </p:nvGrpSpPr>
        <p:grpSpPr>
          <a:xfrm>
            <a:off x="6379535" y="2377441"/>
            <a:ext cx="5690545" cy="1362408"/>
            <a:chOff x="320040" y="4846320"/>
            <a:chExt cx="11567160" cy="1533299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90AC378-5DFB-CDC3-C53E-2AAD733083F3}"/>
                </a:ext>
              </a:extLst>
            </p:cNvPr>
            <p:cNvSpPr/>
            <p:nvPr/>
          </p:nvSpPr>
          <p:spPr>
            <a:xfrm>
              <a:off x="320040" y="4846320"/>
              <a:ext cx="11567160" cy="1533299"/>
            </a:xfrm>
            <a:prstGeom prst="rect">
              <a:avLst/>
            </a:prstGeom>
            <a:solidFill>
              <a:srgbClr val="FFF8E1"/>
            </a:solidFill>
            <a:ln>
              <a:solidFill>
                <a:srgbClr val="F5C51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85387B8-991A-2FA8-3925-C9862642D57D}"/>
                </a:ext>
              </a:extLst>
            </p:cNvPr>
            <p:cNvSpPr txBox="1"/>
            <p:nvPr/>
          </p:nvSpPr>
          <p:spPr>
            <a:xfrm>
              <a:off x="429768" y="4937760"/>
              <a:ext cx="1134770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b="1" i="0" dirty="0">
                  <a:solidFill>
                    <a:srgbClr val="7B5B00"/>
                  </a:solidFill>
                  <a:latin typeface="Calibri"/>
                </a:rPr>
                <a:t>Why not just use single-cell data?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70FD9E3-EB29-C81E-7E33-B707C2E1CFF7}"/>
                </a:ext>
              </a:extLst>
            </p:cNvPr>
            <p:cNvSpPr txBox="1"/>
            <p:nvPr/>
          </p:nvSpPr>
          <p:spPr>
            <a:xfrm>
              <a:off x="429768" y="5243711"/>
              <a:ext cx="11347704" cy="835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b="0" i="0" dirty="0">
                  <a:solidFill>
                    <a:srgbClr val="444C5A"/>
                  </a:solidFill>
                  <a:latin typeface="Calibri"/>
                </a:rPr>
                <a:t> </a:t>
              </a:r>
              <a:r>
                <a:rPr lang="en-US" dirty="0">
                  <a:solidFill>
                    <a:srgbClr val="444C5A"/>
                  </a:solidFill>
                  <a:latin typeface="Calibri"/>
                </a:rPr>
                <a:t>B</a:t>
              </a:r>
              <a:r>
                <a:rPr b="0" i="0" dirty="0">
                  <a:solidFill>
                    <a:srgbClr val="444C5A"/>
                  </a:solidFill>
                  <a:latin typeface="Calibri"/>
                </a:rPr>
                <a:t>ulk expression </a:t>
              </a:r>
              <a:r>
                <a:rPr lang="en-US" b="0" i="0" dirty="0">
                  <a:solidFill>
                    <a:srgbClr val="444C5A"/>
                  </a:solidFill>
                  <a:latin typeface="Calibri"/>
                </a:rPr>
                <a:t>is </a:t>
              </a:r>
              <a:r>
                <a:rPr b="0" i="0" dirty="0">
                  <a:solidFill>
                    <a:srgbClr val="444C5A"/>
                  </a:solidFill>
                  <a:latin typeface="Calibri"/>
                </a:rPr>
                <a:t>primary source of large, clinically annotated </a:t>
              </a:r>
              <a:r>
                <a:rPr lang="en-US" b="0" i="0" dirty="0">
                  <a:solidFill>
                    <a:srgbClr val="444C5A"/>
                  </a:solidFill>
                  <a:latin typeface="Calibri"/>
                </a:rPr>
                <a:t>cohorts for survival analysis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444C5A"/>
                  </a:solidFill>
                  <a:latin typeface="Calibri"/>
                </a:rPr>
                <a:t>Clinical relevance still evaluated retrospectively in bulk</a:t>
              </a:r>
              <a:endParaRPr b="0" i="0" dirty="0">
                <a:solidFill>
                  <a:srgbClr val="444C5A"/>
                </a:solidFill>
                <a:latin typeface="Calibri"/>
              </a:endParaRPr>
            </a:p>
          </p:txBody>
        </p:sp>
      </p:grp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78708F8D-B377-BF25-BA66-91AD4F95C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EAB0023-F0E9-CD3F-FAE3-B5002E364CD7}"/>
              </a:ext>
            </a:extLst>
          </p:cNvPr>
          <p:cNvGrpSpPr/>
          <p:nvPr/>
        </p:nvGrpSpPr>
        <p:grpSpPr>
          <a:xfrm>
            <a:off x="837133" y="3995591"/>
            <a:ext cx="10487254" cy="2497284"/>
            <a:chOff x="1081157" y="4178153"/>
            <a:chExt cx="10487254" cy="249728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CBB3A0B1-574C-9ACC-2189-1ADD01E304E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7799" b="25882"/>
            <a:stretch>
              <a:fillRect/>
            </a:stretch>
          </p:blipFill>
          <p:spPr bwMode="auto">
            <a:xfrm>
              <a:off x="1081157" y="4190757"/>
              <a:ext cx="3427236" cy="2484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DA751EF8-5DA5-1EEB-D269-8D1AE4A8D47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463" b="25882"/>
            <a:stretch>
              <a:fillRect/>
            </a:stretch>
          </p:blipFill>
          <p:spPr bwMode="auto">
            <a:xfrm>
              <a:off x="4699591" y="4178153"/>
              <a:ext cx="6868820" cy="24846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Calibri"/>
              </a:rPr>
              <a:t>NMF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dirty="0">
                <a:solidFill>
                  <a:srgbClr val="CCD0D8"/>
                </a:solidFill>
                <a:latin typeface="Calibri"/>
              </a:rPr>
              <a:t>Nonnegative Matrix Factorization — additive, interpretable decomposition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11521440" cy="1005840"/>
          </a:xfrm>
          <a:prstGeom prst="rect">
            <a:avLst/>
          </a:prstGeom>
          <a:solidFill>
            <a:srgbClr val="F2F4F7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1B355E"/>
                </a:solidFill>
                <a:latin typeface="Calibri"/>
              </a:rPr>
              <a:t>X  ≈  W · 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89888"/>
            <a:ext cx="6858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 dirty="0">
                <a:solidFill>
                  <a:srgbClr val="444C5A"/>
                </a:solidFill>
                <a:latin typeface="Calibri"/>
              </a:rPr>
              <a:t>(p × n)   =   (p × k)  ×  (k × n)     W, H ≥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99249"/>
            <a:ext cx="6400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dirty="0">
                <a:solidFill>
                  <a:srgbClr val="444C5A"/>
                </a:solidFill>
                <a:latin typeface="Calibri"/>
              </a:rPr>
              <a:t>p = genes,  n = samples,  k = latent factors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4DAB0E1-BB35-064B-372E-AF7437FD9D93}"/>
              </a:ext>
            </a:extLst>
          </p:cNvPr>
          <p:cNvGrpSpPr/>
          <p:nvPr/>
        </p:nvGrpSpPr>
        <p:grpSpPr>
          <a:xfrm>
            <a:off x="373205" y="2377440"/>
            <a:ext cx="3657600" cy="1752266"/>
            <a:chOff x="320040" y="2377440"/>
            <a:chExt cx="3657600" cy="1581103"/>
          </a:xfrm>
        </p:grpSpPr>
        <p:sp>
          <p:nvSpPr>
            <p:cNvPr id="9" name="Rectangle 8"/>
            <p:cNvSpPr/>
            <p:nvPr/>
          </p:nvSpPr>
          <p:spPr>
            <a:xfrm>
              <a:off x="320040" y="2377440"/>
              <a:ext cx="3657600" cy="1581103"/>
            </a:xfrm>
            <a:prstGeom prst="rect">
              <a:avLst/>
            </a:prstGeom>
            <a:solidFill>
              <a:srgbClr val="F2F4F7"/>
            </a:solidFill>
            <a:ln>
              <a:solidFill>
                <a:srgbClr val="007A7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57200" y="2468880"/>
              <a:ext cx="34747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b="1" i="0" dirty="0">
                  <a:solidFill>
                    <a:srgbClr val="007A7C"/>
                  </a:solidFill>
                  <a:latin typeface="Calibri"/>
                </a:rPr>
                <a:t>W — Gene Programs  (p × k)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457200" y="2880360"/>
                  <a:ext cx="3474720" cy="85350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342900" indent="-228600"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rgbClr val="444C5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rgbClr val="444C5A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rgbClr val="444C5A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  <m:r>
                            <a:rPr lang="en-US" i="1" dirty="0">
                              <a:solidFill>
                                <a:srgbClr val="444C5A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 smtClean="0">
                              <a:solidFill>
                                <a:srgbClr val="444C5A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a14:m>
                  <a:r>
                    <a:rPr dirty="0">
                      <a:solidFill>
                        <a:srgbClr val="444C5A"/>
                      </a:solidFill>
                      <a:latin typeface="Calibri"/>
                    </a:rPr>
                    <a:t> = weight of gene </a:t>
                  </a:r>
                  <a:r>
                    <a:rPr b="1" i="1" dirty="0">
                      <a:solidFill>
                        <a:srgbClr val="444C5A"/>
                      </a:solidFill>
                      <a:latin typeface="Calibri"/>
                    </a:rPr>
                    <a:t>g</a:t>
                  </a:r>
                  <a:r>
                    <a:rPr dirty="0">
                      <a:solidFill>
                        <a:srgbClr val="444C5A"/>
                      </a:solidFill>
                      <a:latin typeface="Calibri"/>
                    </a:rPr>
                    <a:t> in program </a:t>
                  </a:r>
                  <a:r>
                    <a:rPr b="1" i="1" dirty="0">
                      <a:solidFill>
                        <a:srgbClr val="444C5A"/>
                      </a:solidFill>
                      <a:latin typeface="Calibri"/>
                    </a:rPr>
                    <a:t>j</a:t>
                  </a:r>
                </a:p>
                <a:p>
                  <a:pPr marL="342900" indent="-228600">
                    <a:buChar char="•"/>
                  </a:pPr>
                  <a:r>
                    <a:rPr dirty="0">
                      <a:solidFill>
                        <a:srgbClr val="444C5A"/>
                      </a:solidFill>
                      <a:latin typeface="Calibri"/>
                    </a:rPr>
                    <a:t>Shared across all samples</a:t>
                  </a: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" y="2880360"/>
                  <a:ext cx="3474720" cy="853504"/>
                </a:xfrm>
                <a:prstGeom prst="rect">
                  <a:avLst/>
                </a:prstGeom>
                <a:blipFill>
                  <a:blip r:embed="rId2"/>
                  <a:stretch>
                    <a:fillRect t="-2564" b="-89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B74C967-5AB6-EEE5-39D1-23117C640611}"/>
              </a:ext>
            </a:extLst>
          </p:cNvPr>
          <p:cNvGrpSpPr/>
          <p:nvPr/>
        </p:nvGrpSpPr>
        <p:grpSpPr>
          <a:xfrm>
            <a:off x="373205" y="4312586"/>
            <a:ext cx="3657600" cy="1736550"/>
            <a:chOff x="320040" y="4141423"/>
            <a:chExt cx="3657600" cy="1581102"/>
          </a:xfrm>
        </p:grpSpPr>
        <p:sp>
          <p:nvSpPr>
            <p:cNvPr id="12" name="Rectangle 11"/>
            <p:cNvSpPr/>
            <p:nvPr/>
          </p:nvSpPr>
          <p:spPr>
            <a:xfrm>
              <a:off x="320040" y="4141423"/>
              <a:ext cx="3657600" cy="1581102"/>
            </a:xfrm>
            <a:prstGeom prst="rect">
              <a:avLst/>
            </a:prstGeom>
            <a:solidFill>
              <a:srgbClr val="F2F4F7"/>
            </a:solidFill>
            <a:ln>
              <a:solidFill>
                <a:srgbClr val="E07B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23055" y="4232862"/>
              <a:ext cx="34747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b="1" i="0" dirty="0">
                  <a:solidFill>
                    <a:srgbClr val="E07B1C"/>
                  </a:solidFill>
                  <a:latin typeface="Calibri"/>
                </a:rPr>
                <a:t>H — Sample Loadings  (k × n)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457200" y="4602194"/>
                  <a:ext cx="3474720" cy="86099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342900" indent="-228600"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rgbClr val="444C5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rgbClr val="444C5A"/>
                              </a:solidFill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rgbClr val="444C5A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 dirty="0">
                              <a:solidFill>
                                <a:srgbClr val="444C5A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 err="1" smtClean="0">
                              <a:solidFill>
                                <a:srgbClr val="444C5A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dirty="0">
                      <a:solidFill>
                        <a:srgbClr val="444C5A"/>
                      </a:solidFill>
                      <a:latin typeface="Calibri"/>
                    </a:rPr>
                    <a:t> = activity of program </a:t>
                  </a:r>
                  <a:r>
                    <a:rPr b="1" i="1" dirty="0">
                      <a:solidFill>
                        <a:srgbClr val="444C5A"/>
                      </a:solidFill>
                      <a:latin typeface="Calibri"/>
                    </a:rPr>
                    <a:t>j</a:t>
                  </a:r>
                  <a:r>
                    <a:rPr dirty="0">
                      <a:solidFill>
                        <a:srgbClr val="444C5A"/>
                      </a:solidFill>
                      <a:latin typeface="Calibri"/>
                    </a:rPr>
                    <a:t> in sample </a:t>
                  </a:r>
                  <a:r>
                    <a:rPr b="1" i="1" dirty="0" err="1">
                      <a:solidFill>
                        <a:srgbClr val="444C5A"/>
                      </a:solidFill>
                      <a:latin typeface="Calibri"/>
                    </a:rPr>
                    <a:t>i</a:t>
                  </a:r>
                  <a:endParaRPr b="1" i="1" dirty="0">
                    <a:solidFill>
                      <a:srgbClr val="444C5A"/>
                    </a:solidFill>
                    <a:latin typeface="Calibri"/>
                  </a:endParaRPr>
                </a:p>
                <a:p>
                  <a:pPr marL="342900" indent="-228600">
                    <a:buChar char="•"/>
                  </a:pPr>
                  <a:r>
                    <a:rPr dirty="0">
                      <a:solidFill>
                        <a:srgbClr val="444C5A"/>
                      </a:solidFill>
                      <a:latin typeface="Calibri"/>
                    </a:rPr>
                    <a:t>Sample-specific</a:t>
                  </a:r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" y="4602194"/>
                  <a:ext cx="3474720" cy="860993"/>
                </a:xfrm>
                <a:prstGeom prst="rect">
                  <a:avLst/>
                </a:prstGeom>
                <a:blipFill>
                  <a:blip r:embed="rId3"/>
                  <a:stretch>
                    <a:fillRect t="-2564" b="-897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9BAAB4F-65BD-AF12-2D9B-5A0DDE3BDDEB}"/>
              </a:ext>
            </a:extLst>
          </p:cNvPr>
          <p:cNvGrpSpPr/>
          <p:nvPr/>
        </p:nvGrpSpPr>
        <p:grpSpPr>
          <a:xfrm>
            <a:off x="8099885" y="2369816"/>
            <a:ext cx="3657600" cy="2224754"/>
            <a:chOff x="4190846" y="2377440"/>
            <a:chExt cx="3657600" cy="3345085"/>
          </a:xfrm>
        </p:grpSpPr>
        <p:sp>
          <p:nvSpPr>
            <p:cNvPr id="15" name="Rectangle 14"/>
            <p:cNvSpPr/>
            <p:nvPr/>
          </p:nvSpPr>
          <p:spPr>
            <a:xfrm>
              <a:off x="4190846" y="2377440"/>
              <a:ext cx="3657600" cy="3345085"/>
            </a:xfrm>
            <a:prstGeom prst="rect">
              <a:avLst/>
            </a:prstGeom>
            <a:solidFill>
              <a:srgbClr val="F2F4F7"/>
            </a:solidFill>
            <a:ln>
              <a:solidFill>
                <a:srgbClr val="1B355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328006" y="2468880"/>
              <a:ext cx="34747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b="1" i="0" dirty="0">
                  <a:solidFill>
                    <a:srgbClr val="1B355E"/>
                  </a:solidFill>
                  <a:latin typeface="Calibri"/>
                </a:rPr>
                <a:t>Z = Wᵀ X — </a:t>
              </a:r>
              <a:r>
                <a:rPr lang="en-US" b="1" i="0" dirty="0">
                  <a:solidFill>
                    <a:srgbClr val="1B355E"/>
                  </a:solidFill>
                  <a:latin typeface="Calibri"/>
                </a:rPr>
                <a:t>Program</a:t>
              </a:r>
              <a:r>
                <a:rPr b="1" i="0" dirty="0">
                  <a:solidFill>
                    <a:srgbClr val="1B355E"/>
                  </a:solidFill>
                  <a:latin typeface="Calibri"/>
                </a:rPr>
                <a:t> Scores  (k × n)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4328006" y="3040236"/>
                  <a:ext cx="3474720" cy="268162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342900" indent="-228600">
                    <a:buChar char="•"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rgbClr val="444C5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rgbClr val="444C5A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rgbClr val="444C5A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i="1" dirty="0">
                              <a:solidFill>
                                <a:srgbClr val="444C5A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 err="1" smtClean="0">
                              <a:solidFill>
                                <a:srgbClr val="444C5A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dirty="0">
                      <a:solidFill>
                        <a:srgbClr val="444C5A"/>
                      </a:solidFill>
                      <a:latin typeface="Calibri"/>
                    </a:rPr>
                    <a:t> = expression of program </a:t>
                  </a:r>
                  <a:r>
                    <a:rPr b="1" i="1" dirty="0">
                      <a:solidFill>
                        <a:srgbClr val="444C5A"/>
                      </a:solidFill>
                      <a:latin typeface="Calibri"/>
                    </a:rPr>
                    <a:t>j</a:t>
                  </a:r>
                  <a:r>
                    <a:rPr dirty="0">
                      <a:solidFill>
                        <a:srgbClr val="444C5A"/>
                      </a:solidFill>
                      <a:latin typeface="Calibri"/>
                    </a:rPr>
                    <a:t> in sample </a:t>
                  </a:r>
                  <a:r>
                    <a:rPr b="1" i="1" dirty="0" err="1">
                      <a:solidFill>
                        <a:srgbClr val="444C5A"/>
                      </a:solidFill>
                      <a:latin typeface="Calibri"/>
                    </a:rPr>
                    <a:t>i</a:t>
                  </a:r>
                  <a:endParaRPr b="1" i="1" dirty="0">
                    <a:solidFill>
                      <a:srgbClr val="444C5A"/>
                    </a:solidFill>
                    <a:latin typeface="Calibri"/>
                  </a:endParaRPr>
                </a:p>
                <a:p>
                  <a:pPr marL="342900" indent="-228600">
                    <a:buChar char="•"/>
                  </a:pPr>
                  <a:r>
                    <a:rPr dirty="0">
                      <a:solidFill>
                        <a:srgbClr val="444C5A"/>
                      </a:solidFill>
                      <a:latin typeface="Calibri"/>
                    </a:rPr>
                    <a:t>Covariates in the Cox model</a:t>
                  </a:r>
                </a:p>
                <a:p>
                  <a:pPr marL="342900" indent="-228600">
                    <a:buChar char="•"/>
                  </a:pPr>
                  <a:r>
                    <a:rPr dirty="0">
                      <a:solidFill>
                        <a:srgbClr val="444C5A"/>
                      </a:solidFill>
                      <a:latin typeface="Calibri"/>
                    </a:rPr>
                    <a:t>New patients: </a:t>
                  </a:r>
                  <a:endParaRPr lang="en-US" dirty="0">
                    <a:solidFill>
                      <a:srgbClr val="444C5A"/>
                    </a:solidFill>
                    <a:latin typeface="Calibri"/>
                  </a:endParaRPr>
                </a:p>
                <a:p>
                  <a:pPr marL="1143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 smtClean="0">
                                <a:solidFill>
                                  <a:srgbClr val="444C5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solidFill>
                                  <a:srgbClr val="444C5A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 dirty="0" smtClean="0">
                                <a:solidFill>
                                  <a:srgbClr val="444C5A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US" b="0" i="1" dirty="0" smtClean="0">
                                <a:solidFill>
                                  <a:srgbClr val="444C5A"/>
                                </a:solidFill>
                                <a:latin typeface="Cambria Math" panose="02040503050406030204" pitchFamily="18" charset="0"/>
                              </a:rPr>
                              <m:t>ew</m:t>
                            </m:r>
                          </m:sub>
                        </m:sSub>
                        <m:r>
                          <a:rPr lang="en-US" i="1" dirty="0">
                            <a:solidFill>
                              <a:srgbClr val="444C5A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i="1" dirty="0" smtClean="0">
                                <a:solidFill>
                                  <a:srgbClr val="444C5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̃"/>
                                <m:ctrlPr>
                                  <a:rPr lang="en-US" i="1" dirty="0" smtClean="0">
                                    <a:solidFill>
                                      <a:srgbClr val="444C5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1" dirty="0" smtClean="0">
                                    <a:solidFill>
                                      <a:srgbClr val="444C5A"/>
                                    </a:solidFill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e>
                            </m:acc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b="0" i="1" dirty="0" smtClean="0">
                                <a:solidFill>
                                  <a:srgbClr val="444C5A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sSub>
                          <m:sSubPr>
                            <m:ctrlPr>
                              <a:rPr lang="en-US" i="1" dirty="0" err="1">
                                <a:solidFill>
                                  <a:srgbClr val="444C5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err="1">
                                <a:solidFill>
                                  <a:srgbClr val="444C5A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 dirty="0" err="1">
                                <a:solidFill>
                                  <a:srgbClr val="444C5A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US" b="0" i="1" dirty="0" smtClean="0">
                                <a:solidFill>
                                  <a:srgbClr val="444C5A"/>
                                </a:solidFill>
                                <a:latin typeface="Cambria Math" panose="02040503050406030204" pitchFamily="18" charset="0"/>
                              </a:rPr>
                              <m:t>ew</m:t>
                            </m:r>
                          </m:sub>
                        </m:sSub>
                      </m:oMath>
                    </m:oMathPara>
                  </a14:m>
                  <a:br>
                    <a:rPr dirty="0">
                      <a:solidFill>
                        <a:srgbClr val="444C5A"/>
                      </a:solidFill>
                      <a:latin typeface="Calibri"/>
                    </a:rPr>
                  </a:br>
                  <a:r>
                    <a:rPr dirty="0">
                      <a:solidFill>
                        <a:srgbClr val="444C5A"/>
                      </a:solidFill>
                      <a:latin typeface="Calibri"/>
                    </a:rPr>
                    <a:t>(projection, no re-fitting)</a:t>
                  </a: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28006" y="3040236"/>
                  <a:ext cx="3474720" cy="2681629"/>
                </a:xfrm>
                <a:prstGeom prst="rect">
                  <a:avLst/>
                </a:prstGeom>
                <a:blipFill>
                  <a:blip r:embed="rId4"/>
                  <a:stretch>
                    <a:fillRect t="-1365" b="-443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TextBox 17"/>
          <p:cNvSpPr txBox="1"/>
          <p:nvPr/>
        </p:nvSpPr>
        <p:spPr>
          <a:xfrm>
            <a:off x="11704320" y="6492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0D8"/>
                </a:solidFill>
                <a:latin typeface="Calibri"/>
              </a:rPr>
              <a:t>3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DB18A23-DDAE-8DEE-E7E1-CDC4822BC85F}"/>
              </a:ext>
            </a:extLst>
          </p:cNvPr>
          <p:cNvGrpSpPr/>
          <p:nvPr/>
        </p:nvGrpSpPr>
        <p:grpSpPr>
          <a:xfrm>
            <a:off x="4244010" y="2369815"/>
            <a:ext cx="3657600" cy="2224755"/>
            <a:chOff x="8074025" y="2377440"/>
            <a:chExt cx="3657600" cy="3345085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9FA6E177-24E4-3AD8-5DCE-BC50BF0798A0}"/>
                </a:ext>
              </a:extLst>
            </p:cNvPr>
            <p:cNvSpPr/>
            <p:nvPr/>
          </p:nvSpPr>
          <p:spPr>
            <a:xfrm>
              <a:off x="8074025" y="2377440"/>
              <a:ext cx="3657600" cy="3345085"/>
            </a:xfrm>
            <a:prstGeom prst="rect">
              <a:avLst/>
            </a:prstGeom>
            <a:solidFill>
              <a:srgbClr val="F2F4F7"/>
            </a:solidFill>
            <a:ln>
              <a:solidFill>
                <a:schemeClr val="accent3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AAD27E9-481C-D5D7-6B3E-613E6F1F6C18}"/>
                </a:ext>
              </a:extLst>
            </p:cNvPr>
            <p:cNvSpPr txBox="1"/>
            <p:nvPr/>
          </p:nvSpPr>
          <p:spPr>
            <a:xfrm>
              <a:off x="8183880" y="2475784"/>
              <a:ext cx="3474720" cy="5553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b="1" i="0" dirty="0">
                  <a:solidFill>
                    <a:schemeClr val="accent3">
                      <a:lumMod val="50000"/>
                    </a:schemeClr>
                  </a:solidFill>
                  <a:latin typeface="Calibri"/>
                </a:rPr>
                <a:t>Top genes in </a:t>
              </a:r>
              <a:r>
                <a:rPr lang="en-US" b="1" dirty="0">
                  <a:solidFill>
                    <a:schemeClr val="accent3">
                      <a:lumMod val="50000"/>
                    </a:schemeClr>
                  </a:solidFill>
                  <a:latin typeface="Calibri"/>
                </a:rPr>
                <a:t>W – program identity</a:t>
              </a:r>
              <a:endParaRPr b="1" i="0" dirty="0">
                <a:solidFill>
                  <a:schemeClr val="accent3">
                    <a:lumMod val="50000"/>
                  </a:schemeClr>
                </a:solidFill>
                <a:latin typeface="Calibri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82D2825-00C8-41D7-FE4C-D629082E53BE}"/>
                    </a:ext>
                  </a:extLst>
                </p:cNvPr>
                <p:cNvSpPr txBox="1"/>
                <p:nvPr/>
              </p:nvSpPr>
              <p:spPr>
                <a:xfrm>
                  <a:off x="8183880" y="3104176"/>
                  <a:ext cx="3474720" cy="225993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342900" indent="-228600">
                    <a:buChar char="•"/>
                  </a:pPr>
                  <a:r>
                    <a:rPr lang="en-US" dirty="0">
                      <a:solidFill>
                        <a:schemeClr val="accent3">
                          <a:lumMod val="50000"/>
                        </a:schemeClr>
                      </a:solidFill>
                      <a:latin typeface="Calibri"/>
                    </a:rPr>
                    <a:t>Top genes are program specific</a:t>
                  </a:r>
                </a:p>
                <a:p>
                  <a:pPr marL="342900" indent="-228600">
                    <a:buChar char="•"/>
                  </a:pPr>
                  <a:r>
                    <a:rPr lang="en-US" dirty="0">
                      <a:solidFill>
                        <a:schemeClr val="accent3">
                          <a:lumMod val="50000"/>
                        </a:schemeClr>
                      </a:solidFill>
                      <a:latin typeface="Calibri"/>
                    </a:rPr>
                    <a:t>Large weights in one program and small weights in others</a:t>
                  </a:r>
                </a:p>
                <a:p>
                  <a:pPr marL="342900" indent="-228600">
                    <a:buChar char="•"/>
                  </a:pPr>
                  <a:r>
                    <a:rPr lang="en-US" dirty="0">
                      <a:solidFill>
                        <a:schemeClr val="accent3">
                          <a:lumMod val="50000"/>
                        </a:schemeClr>
                      </a:solidFill>
                      <a:latin typeface="Calibri"/>
                    </a:rPr>
                    <a:t>Rank:</a:t>
                  </a:r>
                </a:p>
                <a:p>
                  <a:pPr marL="11430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ar-AE" b="0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ar-AE" b="0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𝑔𝑗</m:t>
                            </m:r>
                          </m:sub>
                        </m:sSub>
                        <m:r>
                          <a:rPr lang="ar-AE" b="0" i="1" smtClean="0">
                            <a:solidFill>
                              <a:schemeClr val="accent3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  − </m:t>
                        </m:r>
                        <m:sSub>
                          <m:sSubPr>
                            <m:ctrlPr>
                              <a:rPr lang="ar-AE" b="0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m:rPr>
                                <m:sty m:val="p"/>
                              </m:rPr>
                              <a:rPr lang="en-US" b="0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  <m:r>
                              <a:rPr lang="en-US" b="0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m:rPr>
                                <m:sty m:val="p"/>
                              </m:rPr>
                              <a:rPr lang="en-US" b="0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j</m:t>
                            </m:r>
                          </m:sub>
                        </m:sSub>
                        <m:sSub>
                          <m:sSubPr>
                            <m:ctrlPr>
                              <a:rPr lang="ar-AE" b="0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ar-AE" b="0" i="1" smtClean="0">
                                <a:solidFill>
                                  <a:schemeClr val="accent3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𝑔𝑟</m:t>
                            </m:r>
                          </m:sub>
                        </m:sSub>
                      </m:oMath>
                    </m:oMathPara>
                  </a14:m>
                  <a:endParaRPr lang="ar-AE" dirty="0">
                    <a:solidFill>
                      <a:schemeClr val="accent3">
                        <a:lumMod val="50000"/>
                      </a:schemeClr>
                    </a:solidFill>
                    <a:latin typeface="Calibri"/>
                  </a:endParaRP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482D2825-00C8-41D7-FE4C-D629082E53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83880" y="3104176"/>
                  <a:ext cx="3474720" cy="2259933"/>
                </a:xfrm>
                <a:prstGeom prst="rect">
                  <a:avLst/>
                </a:prstGeom>
                <a:blipFill>
                  <a:blip r:embed="rId5"/>
                  <a:stretch>
                    <a:fillRect t="-2024" r="-702" b="-12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385E02D-10E3-C57C-6DB4-C7BDBE900E5A}"/>
              </a:ext>
            </a:extLst>
          </p:cNvPr>
          <p:cNvGrpSpPr/>
          <p:nvPr/>
        </p:nvGrpSpPr>
        <p:grpSpPr>
          <a:xfrm>
            <a:off x="4244010" y="4785075"/>
            <a:ext cx="7540779" cy="1264061"/>
            <a:chOff x="6035040" y="1234440"/>
            <a:chExt cx="5806440" cy="18288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5F444E0-6A37-2DF3-0310-C18DF97F658E}"/>
                </a:ext>
              </a:extLst>
            </p:cNvPr>
            <p:cNvSpPr/>
            <p:nvPr/>
          </p:nvSpPr>
          <p:spPr>
            <a:xfrm>
              <a:off x="6035040" y="1234440"/>
              <a:ext cx="5806440" cy="1828800"/>
            </a:xfrm>
            <a:prstGeom prst="rect">
              <a:avLst/>
            </a:prstGeom>
            <a:solidFill>
              <a:srgbClr val="F2F4F7"/>
            </a:solidFill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chemeClr val="accent2"/>
                </a:solidFill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FBD66B7-EE47-1AE6-DEB6-94D30DA241CF}"/>
                </a:ext>
              </a:extLst>
            </p:cNvPr>
            <p:cNvSpPr txBox="1"/>
            <p:nvPr/>
          </p:nvSpPr>
          <p:spPr>
            <a:xfrm>
              <a:off x="6172200" y="1307591"/>
              <a:ext cx="5577840" cy="51207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/>
              <a:r>
                <a:rPr sz="1700" b="1" i="0" dirty="0">
                  <a:solidFill>
                    <a:schemeClr val="accent2"/>
                  </a:solidFill>
                  <a:latin typeface="Calibri"/>
                </a:rPr>
                <a:t>Objective mismatch: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F80F3A3-DEAE-EA1F-1DFB-376D8F135D45}"/>
                </a:ext>
              </a:extLst>
            </p:cNvPr>
            <p:cNvSpPr txBox="1"/>
            <p:nvPr/>
          </p:nvSpPr>
          <p:spPr>
            <a:xfrm>
              <a:off x="6172200" y="1788644"/>
              <a:ext cx="5577840" cy="100188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algn="l">
                <a:spcAft>
                  <a:spcPts val="600"/>
                </a:spcAft>
              </a:pPr>
              <a:r>
                <a:rPr lang="en-US" sz="1700" dirty="0">
                  <a:solidFill>
                    <a:schemeClr val="accent2"/>
                  </a:solidFill>
                  <a:latin typeface="Calibri"/>
                </a:rPr>
                <a:t>NMF M</a:t>
              </a:r>
              <a:r>
                <a:rPr sz="1700" b="0" i="0" dirty="0">
                  <a:solidFill>
                    <a:schemeClr val="accent2"/>
                  </a:solidFill>
                  <a:latin typeface="Calibri"/>
                </a:rPr>
                <a:t>inimizes:    ‖ X − WH ‖²   (reconstruction error)
</a:t>
              </a:r>
              <a:r>
                <a:rPr lang="en-US" sz="1700" dirty="0">
                  <a:solidFill>
                    <a:schemeClr val="accent2"/>
                  </a:solidFill>
                  <a:latin typeface="Calibri"/>
                </a:rPr>
                <a:t>Downstream evaluation</a:t>
              </a:r>
              <a:r>
                <a:rPr sz="1700" b="0" i="0" dirty="0">
                  <a:solidFill>
                    <a:schemeClr val="accent2"/>
                  </a:solidFill>
                  <a:latin typeface="Calibri"/>
                </a:rPr>
                <a:t>:</a:t>
              </a:r>
              <a:r>
                <a:rPr lang="en-US" sz="1700" b="0" i="0" dirty="0">
                  <a:solidFill>
                    <a:schemeClr val="accent2"/>
                  </a:solidFill>
                  <a:latin typeface="Calibri"/>
                </a:rPr>
                <a:t>   survival prediction (c-index)</a:t>
              </a:r>
              <a:endParaRPr sz="1700" b="0" i="0" dirty="0">
                <a:solidFill>
                  <a:schemeClr val="accent2"/>
                </a:solidFill>
                <a:latin typeface="Calibri"/>
              </a:endParaRPr>
            </a:p>
          </p:txBody>
        </p:sp>
      </p:grpSp>
      <p:sp>
        <p:nvSpPr>
          <p:cNvPr id="31" name="Slide Number Placeholder 30">
            <a:extLst>
              <a:ext uri="{FF2B5EF4-FFF2-40B4-BE49-F238E27FC236}">
                <a16:creationId xmlns:a16="http://schemas.microsoft.com/office/drawing/2014/main" id="{387E805F-9A1D-37B8-85F0-5731915CB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 err="1">
                <a:solidFill>
                  <a:srgbClr val="FFFFFF"/>
                </a:solidFill>
                <a:latin typeface="Calibri"/>
              </a:rPr>
              <a:t>DeSurv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: Survival-Supervised Deconvolution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dirty="0">
                <a:solidFill>
                  <a:srgbClr val="CCD0D8"/>
                </a:solidFill>
                <a:latin typeface="Calibri"/>
              </a:rPr>
              <a:t>Joint NMF + Cox proportional hazards — α controls supervision strength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E51414F-6436-0D60-AB69-F4EE80F1BEAF}"/>
              </a:ext>
            </a:extLst>
          </p:cNvPr>
          <p:cNvGrpSpPr/>
          <p:nvPr/>
        </p:nvGrpSpPr>
        <p:grpSpPr>
          <a:xfrm>
            <a:off x="320040" y="1188719"/>
            <a:ext cx="11292840" cy="1309931"/>
            <a:chOff x="320040" y="1188719"/>
            <a:chExt cx="11292840" cy="1309931"/>
          </a:xfrm>
        </p:grpSpPr>
        <p:sp>
          <p:nvSpPr>
            <p:cNvPr id="5" name="Rectangle 4"/>
            <p:cNvSpPr/>
            <p:nvPr/>
          </p:nvSpPr>
          <p:spPr>
            <a:xfrm>
              <a:off x="320040" y="1188719"/>
              <a:ext cx="6920732" cy="1309931"/>
            </a:xfrm>
            <a:prstGeom prst="rect">
              <a:avLst/>
            </a:prstGeom>
            <a:solidFill>
              <a:srgbClr val="F2F4F7"/>
            </a:solidFill>
            <a:ln>
              <a:solidFill>
                <a:srgbClr val="1B355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57200" y="1261872"/>
              <a:ext cx="274320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sz="2000" b="1" i="0" dirty="0">
                  <a:solidFill>
                    <a:srgbClr val="1B355E"/>
                  </a:solidFill>
                  <a:latin typeface="Calibri"/>
                </a:rPr>
                <a:t>1. </a:t>
              </a:r>
              <a:r>
                <a:rPr sz="2000" b="1" i="0" dirty="0">
                  <a:solidFill>
                    <a:srgbClr val="1B355E"/>
                  </a:solidFill>
                  <a:latin typeface="Calibri"/>
                </a:rPr>
                <a:t>Joint objective: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457200" y="1739796"/>
                  <a:ext cx="11155680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l"/>
                  <a:r>
                    <a:rPr sz="2400" b="1" i="0" dirty="0">
                      <a:solidFill>
                        <a:srgbClr val="1B355E"/>
                      </a:solidFill>
                      <a:latin typeface="Calibri"/>
                    </a:rPr>
                    <a:t>ℒ(W, H, β)  =  (1 − α) ·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1" i="1" dirty="0" smtClean="0">
                              <a:solidFill>
                                <a:srgbClr val="1B355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 smtClean="0">
                              <a:solidFill>
                                <a:srgbClr val="1B355E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400" b="1" i="1" dirty="0" smtClean="0">
                              <a:solidFill>
                                <a:srgbClr val="1B355E"/>
                              </a:solidFill>
                              <a:latin typeface="Cambria Math" panose="02040503050406030204" pitchFamily="18" charset="0"/>
                            </a:rPr>
                            <m:t>𝑵𝑴𝑭</m:t>
                          </m:r>
                        </m:sub>
                      </m:sSub>
                    </m:oMath>
                  </a14:m>
                  <a:r>
                    <a:rPr sz="2400" b="1" i="0" dirty="0">
                      <a:solidFill>
                        <a:srgbClr val="1B355E"/>
                      </a:solidFill>
                      <a:latin typeface="Calibri"/>
                    </a:rPr>
                    <a:t>(W, H)  −  α ·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b="1" i="1" dirty="0" smtClean="0">
                              <a:solidFill>
                                <a:srgbClr val="1B355E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 smtClean="0">
                              <a:solidFill>
                                <a:srgbClr val="1B355E"/>
                              </a:solidFill>
                              <a:latin typeface="Cambria Math" panose="02040503050406030204" pitchFamily="18" charset="0"/>
                            </a:rPr>
                            <m:t>ℒ</m:t>
                          </m:r>
                        </m:e>
                        <m:sub>
                          <m:r>
                            <a:rPr lang="en-US" sz="2400" b="1" i="1" dirty="0" smtClean="0">
                              <a:solidFill>
                                <a:srgbClr val="1B355E"/>
                              </a:solidFill>
                              <a:latin typeface="Cambria Math" panose="02040503050406030204" pitchFamily="18" charset="0"/>
                            </a:rPr>
                            <m:t>𝑪𝒐𝒙</m:t>
                          </m:r>
                        </m:sub>
                      </m:sSub>
                    </m:oMath>
                  </a14:m>
                  <a:r>
                    <a:rPr sz="2400" b="1" i="0" dirty="0">
                      <a:solidFill>
                        <a:srgbClr val="1B355E"/>
                      </a:solidFill>
                      <a:latin typeface="Calibri"/>
                    </a:rPr>
                    <a:t>(W, β)</a:t>
                  </a:r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" y="1739796"/>
                  <a:ext cx="11155680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820" t="-13158" b="-28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22" name="Picture 21" descr="A diagram of a model&#10;&#10;AI-generated content may be incorrect.">
            <a:extLst>
              <a:ext uri="{FF2B5EF4-FFF2-40B4-BE49-F238E27FC236}">
                <a16:creationId xmlns:a16="http://schemas.microsoft.com/office/drawing/2014/main" id="{6DFD87C3-F406-9BC5-8D36-51F5987B37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545" t="2741" b="51246"/>
          <a:stretch>
            <a:fillRect/>
          </a:stretch>
        </p:blipFill>
        <p:spPr>
          <a:xfrm>
            <a:off x="320041" y="2762647"/>
            <a:ext cx="8711074" cy="3754313"/>
          </a:xfrm>
          <a:prstGeom prst="rect">
            <a:avLst/>
          </a:prstGeom>
        </p:spPr>
      </p:pic>
      <p:grpSp>
        <p:nvGrpSpPr>
          <p:cNvPr id="23" name="Group 22">
            <a:extLst>
              <a:ext uri="{FF2B5EF4-FFF2-40B4-BE49-F238E27FC236}">
                <a16:creationId xmlns:a16="http://schemas.microsoft.com/office/drawing/2014/main" id="{31A6F0EA-653E-88B5-0E17-7D21B42B72A8}"/>
              </a:ext>
            </a:extLst>
          </p:cNvPr>
          <p:cNvGrpSpPr/>
          <p:nvPr/>
        </p:nvGrpSpPr>
        <p:grpSpPr>
          <a:xfrm>
            <a:off x="7441730" y="1186666"/>
            <a:ext cx="4472054" cy="1801082"/>
            <a:chOff x="4197096" y="2745514"/>
            <a:chExt cx="3657600" cy="3429000"/>
          </a:xfrm>
        </p:grpSpPr>
        <p:sp>
          <p:nvSpPr>
            <p:cNvPr id="24" name="Rectangle 23"/>
            <p:cNvSpPr/>
            <p:nvPr/>
          </p:nvSpPr>
          <p:spPr>
            <a:xfrm>
              <a:off x="4197096" y="2745514"/>
              <a:ext cx="3657600" cy="3429000"/>
            </a:xfrm>
            <a:prstGeom prst="rect">
              <a:avLst/>
            </a:prstGeom>
            <a:solidFill>
              <a:srgbClr val="F2F4F7"/>
            </a:solidFill>
            <a:ln>
              <a:solidFill>
                <a:srgbClr val="E07B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334256" y="2818666"/>
              <a:ext cx="347472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1" i="0" dirty="0">
                  <a:solidFill>
                    <a:srgbClr val="E07B1C"/>
                  </a:solidFill>
                  <a:latin typeface="Calibri"/>
                </a:rPr>
                <a:t>2. Model selection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/>
                <p:cNvSpPr txBox="1"/>
                <p:nvPr/>
              </p:nvSpPr>
              <p:spPr>
                <a:xfrm>
                  <a:off x="4334256" y="3405145"/>
                  <a:ext cx="3474720" cy="203132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342900" indent="-228600">
                    <a:buChar char="•"/>
                  </a:pPr>
                  <a:r>
                    <a:rPr dirty="0">
                      <a:solidFill>
                        <a:srgbClr val="444C5A"/>
                      </a:solidFill>
                      <a:latin typeface="Calibri"/>
                    </a:rPr>
                    <a:t>Bayesian optimizatio</a:t>
                  </a:r>
                  <a:r>
                    <a:rPr lang="en-US" dirty="0">
                      <a:solidFill>
                        <a:srgbClr val="444C5A"/>
                      </a:solidFill>
                      <a:latin typeface="Calibri"/>
                    </a:rPr>
                    <a:t>n</a:t>
                  </a:r>
                  <a:endParaRPr dirty="0">
                    <a:solidFill>
                      <a:srgbClr val="444C5A"/>
                    </a:solidFill>
                    <a:latin typeface="Calibri"/>
                  </a:endParaRPr>
                </a:p>
                <a:p>
                  <a:pPr marL="342900" indent="-228600">
                    <a:buChar char="•"/>
                  </a:pPr>
                  <a:r>
                    <a:rPr dirty="0">
                      <a:solidFill>
                        <a:srgbClr val="444C5A"/>
                      </a:solidFill>
                      <a:latin typeface="Calibri"/>
                    </a:rPr>
                    <a:t>Criterion: cross-validated C-index</a:t>
                  </a:r>
                </a:p>
                <a:p>
                  <a:pPr marL="342900" indent="-228600">
                    <a:buChar char="•"/>
                  </a:pPr>
                  <a:r>
                    <a:rPr dirty="0">
                      <a:solidFill>
                        <a:srgbClr val="444C5A"/>
                      </a:solidFill>
                      <a:latin typeface="Calibri"/>
                    </a:rPr>
                    <a:t>1-SE rule → smallest </a:t>
                  </a:r>
                  <a:r>
                    <a:rPr i="1" dirty="0">
                      <a:solidFill>
                        <a:srgbClr val="444C5A"/>
                      </a:solidFill>
                      <a:latin typeface="Calibri"/>
                    </a:rPr>
                    <a:t>k</a:t>
                  </a:r>
                  <a:r>
                    <a:rPr lang="en-US" i="1" dirty="0">
                      <a:solidFill>
                        <a:srgbClr val="444C5A"/>
                      </a:solidFill>
                      <a:latin typeface="Calibri"/>
                    </a:rPr>
                    <a:t>,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444C5A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a14:m>
                  <a:r>
                    <a:rPr dirty="0">
                      <a:solidFill>
                        <a:srgbClr val="444C5A"/>
                      </a:solidFill>
                      <a:latin typeface="Calibri"/>
                    </a:rPr>
                    <a:t> within 1 SE of maximum</a:t>
                  </a:r>
                  <a:endParaRPr lang="en-US" dirty="0">
                    <a:solidFill>
                      <a:srgbClr val="444C5A"/>
                    </a:solidFill>
                    <a:latin typeface="Calibri"/>
                  </a:endParaRPr>
                </a:p>
                <a:p>
                  <a:pPr marL="342900" indent="-228600">
                    <a:buChar char="•"/>
                  </a:pPr>
                  <a:r>
                    <a:rPr dirty="0">
                      <a:solidFill>
                        <a:srgbClr val="444C5A"/>
                      </a:solidFill>
                      <a:latin typeface="Calibri"/>
                    </a:rPr>
                    <a:t>All selection within training data</a:t>
                  </a:r>
                </a:p>
              </p:txBody>
            </p:sp>
          </mc:Choice>
          <mc:Fallback xmlns="">
            <p:sp>
              <p:nvSpPr>
                <p:cNvPr id="26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34256" y="3405145"/>
                  <a:ext cx="3474720" cy="2031324"/>
                </a:xfrm>
                <a:prstGeom prst="rect">
                  <a:avLst/>
                </a:prstGeom>
                <a:blipFill>
                  <a:blip r:embed="rId5"/>
                  <a:stretch>
                    <a:fillRect t="-2841" r="-143" b="-4545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52638387-897B-2849-2345-337D3BE1CF6D}"/>
              </a:ext>
            </a:extLst>
          </p:cNvPr>
          <p:cNvGrpSpPr/>
          <p:nvPr/>
        </p:nvGrpSpPr>
        <p:grpSpPr>
          <a:xfrm>
            <a:off x="8918802" y="3119979"/>
            <a:ext cx="2994982" cy="3280821"/>
            <a:chOff x="8074152" y="2745514"/>
            <a:chExt cx="3657600" cy="3429000"/>
          </a:xfrm>
        </p:grpSpPr>
        <p:sp>
          <p:nvSpPr>
            <p:cNvPr id="28" name="Rectangle 27"/>
            <p:cNvSpPr/>
            <p:nvPr/>
          </p:nvSpPr>
          <p:spPr>
            <a:xfrm>
              <a:off x="8074152" y="2745514"/>
              <a:ext cx="3657600" cy="3429000"/>
            </a:xfrm>
            <a:prstGeom prst="rect">
              <a:avLst/>
            </a:prstGeom>
            <a:solidFill>
              <a:srgbClr val="F2F4F7"/>
            </a:solidFill>
            <a:ln>
              <a:solidFill>
                <a:srgbClr val="1B355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211312" y="2818666"/>
              <a:ext cx="347472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2000" b="1" i="0" dirty="0">
                  <a:solidFill>
                    <a:srgbClr val="1B355E"/>
                  </a:solidFill>
                  <a:latin typeface="Calibri"/>
                </a:rPr>
                <a:t>3. Out-of-sample scoring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/>
                <p:cNvSpPr txBox="1"/>
                <p:nvPr/>
              </p:nvSpPr>
              <p:spPr>
                <a:xfrm>
                  <a:off x="8211312" y="3202714"/>
                  <a:ext cx="3474720" cy="195495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342900" indent="-228600">
                    <a:buChar char="•"/>
                  </a:pPr>
                  <a:r>
                    <a:rPr dirty="0">
                      <a:solidFill>
                        <a:srgbClr val="444C5A"/>
                      </a:solidFill>
                      <a:latin typeface="Calibri"/>
                    </a:rPr>
                    <a:t>W fixed at training time</a:t>
                  </a:r>
                </a:p>
                <a:p>
                  <a:pPr marL="342900" indent="-228600">
                    <a:buChar char="•"/>
                  </a:pPr>
                  <a:r>
                    <a:rPr dirty="0">
                      <a:solidFill>
                        <a:srgbClr val="444C5A"/>
                      </a:solidFill>
                      <a:latin typeface="Calibri"/>
                    </a:rPr>
                    <a:t>New patients: </a:t>
                  </a:r>
                  <a:endParaRPr lang="en-US" dirty="0">
                    <a:solidFill>
                      <a:srgbClr val="444C5A"/>
                    </a:solidFill>
                    <a:latin typeface="Calibri"/>
                  </a:endParaRPr>
                </a:p>
                <a:p>
                  <a:pPr marL="11430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 dirty="0">
                                <a:solidFill>
                                  <a:srgbClr val="444C5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solidFill>
                                  <a:srgbClr val="444C5A"/>
                                </a:solidFill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i="1" dirty="0">
                                <a:solidFill>
                                  <a:srgbClr val="444C5A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US" i="1" dirty="0">
                                <a:solidFill>
                                  <a:srgbClr val="444C5A"/>
                                </a:solidFill>
                                <a:latin typeface="Cambria Math" panose="02040503050406030204" pitchFamily="18" charset="0"/>
                              </a:rPr>
                              <m:t>ew</m:t>
                            </m:r>
                          </m:sub>
                        </m:sSub>
                        <m:r>
                          <a:rPr lang="en-US" i="1" dirty="0">
                            <a:solidFill>
                              <a:srgbClr val="444C5A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i="1" dirty="0">
                                <a:solidFill>
                                  <a:srgbClr val="444C5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̃"/>
                                <m:ctrlPr>
                                  <a:rPr lang="en-US" i="1" dirty="0">
                                    <a:solidFill>
                                      <a:srgbClr val="444C5A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m:rPr>
                                    <m:sty m:val="p"/>
                                  </m:rPr>
                                  <a:rPr lang="en-US" i="1" dirty="0">
                                    <a:solidFill>
                                      <a:srgbClr val="444C5A"/>
                                    </a:solidFill>
                                    <a:latin typeface="Cambria Math" panose="02040503050406030204" pitchFamily="18" charset="0"/>
                                  </a:rPr>
                                  <m:t>W</m:t>
                                </m:r>
                              </m:e>
                            </m:acc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i="1" dirty="0">
                                <a:solidFill>
                                  <a:srgbClr val="444C5A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sSub>
                          <m:sSubPr>
                            <m:ctrlPr>
                              <a:rPr lang="en-US" i="1" dirty="0" err="1">
                                <a:solidFill>
                                  <a:srgbClr val="444C5A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err="1">
                                <a:solidFill>
                                  <a:srgbClr val="444C5A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i="1" dirty="0" err="1">
                                <a:solidFill>
                                  <a:srgbClr val="444C5A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US" i="1" dirty="0">
                                <a:solidFill>
                                  <a:srgbClr val="444C5A"/>
                                </a:solidFill>
                                <a:latin typeface="Cambria Math" panose="02040503050406030204" pitchFamily="18" charset="0"/>
                              </a:rPr>
                              <m:t>ew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rgbClr val="444C5A"/>
                    </a:solidFill>
                    <a:latin typeface="Calibri"/>
                  </a:endParaRPr>
                </a:p>
                <a:p>
                  <a:pPr marL="342900" indent="-228600">
                    <a:buChar char="•"/>
                  </a:pPr>
                  <a:r>
                    <a:rPr dirty="0">
                      <a:solidFill>
                        <a:srgbClr val="444C5A"/>
                      </a:solidFill>
                      <a:latin typeface="Calibri"/>
                    </a:rPr>
                    <a:t>No </a:t>
                  </a:r>
                  <a:r>
                    <a:rPr lang="en-US" dirty="0">
                      <a:solidFill>
                        <a:srgbClr val="444C5A"/>
                      </a:solidFill>
                      <a:latin typeface="Calibri"/>
                    </a:rPr>
                    <a:t>re-optimization</a:t>
                  </a:r>
                  <a:endParaRPr dirty="0">
                    <a:solidFill>
                      <a:srgbClr val="444C5A"/>
                    </a:solidFill>
                    <a:latin typeface="Calibri"/>
                  </a:endParaRPr>
                </a:p>
                <a:p>
                  <a:pPr marL="342900" indent="-228600">
                    <a:buChar char="•"/>
                  </a:pPr>
                  <a:r>
                    <a:rPr dirty="0">
                      <a:solidFill>
                        <a:srgbClr val="444C5A"/>
                      </a:solidFill>
                      <a:latin typeface="Calibri"/>
                    </a:rPr>
                    <a:t>Risk score =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0" i="1" dirty="0" smtClean="0">
                              <a:solidFill>
                                <a:srgbClr val="444C5A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0" dirty="0" smtClean="0">
                              <a:solidFill>
                                <a:srgbClr val="444C5A"/>
                              </a:solidFill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b="0" i="0" dirty="0" smtClean="0">
                              <a:solidFill>
                                <a:srgbClr val="444C5A"/>
                              </a:solidFill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n-US" b="0" i="1" dirty="0" smtClean="0">
                              <a:solidFill>
                                <a:srgbClr val="444C5A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b="0" i="1" dirty="0" smtClean="0">
                              <a:solidFill>
                                <a:srgbClr val="444C5A"/>
                              </a:solidFill>
                              <a:latin typeface="Cambria Math" panose="02040503050406030204" pitchFamily="18" charset="0"/>
                            </a:rPr>
                            <m:t>β</m:t>
                          </m:r>
                        </m:e>
                      </m:acc>
                    </m:oMath>
                  </a14:m>
                  <a:r>
                    <a:rPr dirty="0">
                      <a:solidFill>
                        <a:srgbClr val="444C5A"/>
                      </a:solidFill>
                      <a:latin typeface="Calibri"/>
                    </a:rPr>
                    <a:t>  (linear predictor)</a:t>
                  </a:r>
                </a:p>
              </p:txBody>
            </p:sp>
          </mc:Choice>
          <mc:Fallback xmlns="">
            <p:sp>
              <p:nvSpPr>
                <p:cNvPr id="30" name="TextBox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11312" y="3202714"/>
                  <a:ext cx="3474720" cy="1954959"/>
                </a:xfrm>
                <a:prstGeom prst="rect">
                  <a:avLst/>
                </a:prstGeom>
                <a:blipFill>
                  <a:blip r:embed="rId6"/>
                  <a:stretch>
                    <a:fillRect t="-196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E9B26C27-B01E-B657-9C0E-D64D1288F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79300" cy="109220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17500" y="76200"/>
            <a:ext cx="11544300" cy="5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Calibri"/>
              </a:rPr>
              <a:t>Simulation: </a:t>
            </a:r>
            <a:r>
              <a:rPr sz="2600" b="1" i="0" dirty="0" err="1">
                <a:solidFill>
                  <a:srgbClr val="FFFFFF"/>
                </a:solidFill>
                <a:latin typeface="Calibri"/>
              </a:rPr>
              <a:t>DeSurv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 Wins When </a:t>
            </a:r>
            <a:r>
              <a:rPr lang="en-US" sz="2600" b="1" i="0" dirty="0">
                <a:solidFill>
                  <a:srgbClr val="FFFFFF"/>
                </a:solidFill>
                <a:latin typeface="Calibri"/>
              </a:rPr>
              <a:t>Expression Dominance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 ≠ Prognosis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7500" y="609600"/>
            <a:ext cx="11544300" cy="381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dirty="0">
                <a:solidFill>
                  <a:srgbClr val="CCD0D8"/>
                </a:solidFill>
                <a:latin typeface="Calibri"/>
              </a:rPr>
              <a:t>100 replicates | p = 3,000 genes, n = 200 samples, true k = 3 | both methods tuned by BO over CV C-index</a:t>
            </a:r>
          </a:p>
        </p:txBody>
      </p:sp>
      <p:sp>
        <p:nvSpPr>
          <p:cNvPr id="5" name="Rectangle 4"/>
          <p:cNvSpPr/>
          <p:nvPr/>
        </p:nvSpPr>
        <p:spPr>
          <a:xfrm>
            <a:off x="317500" y="1193800"/>
            <a:ext cx="11544300" cy="692547"/>
          </a:xfrm>
          <a:prstGeom prst="rect">
            <a:avLst/>
          </a:prstGeom>
          <a:solidFill>
            <a:srgbClr val="F2F4F7"/>
          </a:solidFill>
          <a:ln w="12700" cap="flat" cmpd="sng" algn="ctr">
            <a:solidFill>
              <a:srgbClr val="CCD0D8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44600"/>
            <a:ext cx="11264900" cy="660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2000"/>
              </a:lnSpc>
            </a:pPr>
            <a:r>
              <a:rPr lang="en-US" dirty="0">
                <a:solidFill>
                  <a:srgbClr val="444C5A"/>
                </a:solidFill>
                <a:latin typeface="Calibri"/>
              </a:rPr>
              <a:t>Primary scenario: prognostic genes are sparse compared to outcome-neutral background genes.  </a:t>
            </a:r>
          </a:p>
          <a:p>
            <a:pPr algn="l">
              <a:lnSpc>
                <a:spcPts val="2000"/>
              </a:lnSpc>
            </a:pPr>
            <a:r>
              <a:rPr lang="en-US" dirty="0">
                <a:solidFill>
                  <a:srgbClr val="444C5A"/>
                </a:solidFill>
                <a:latin typeface="Calibri"/>
              </a:rPr>
              <a:t>β = (2, 0, 0)  →  only factor 1 drives survival.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AB3D3B5-5754-7F6A-2E58-47D36E2053F1}"/>
              </a:ext>
            </a:extLst>
          </p:cNvPr>
          <p:cNvGrpSpPr/>
          <p:nvPr/>
        </p:nvGrpSpPr>
        <p:grpSpPr>
          <a:xfrm>
            <a:off x="4233938" y="5140188"/>
            <a:ext cx="7833129" cy="1257300"/>
            <a:chOff x="4233938" y="5140188"/>
            <a:chExt cx="7833129" cy="1257300"/>
          </a:xfrm>
        </p:grpSpPr>
        <p:sp>
          <p:nvSpPr>
            <p:cNvPr id="17" name="Rectangle 16"/>
            <p:cNvSpPr/>
            <p:nvPr/>
          </p:nvSpPr>
          <p:spPr>
            <a:xfrm>
              <a:off x="4233938" y="5140188"/>
              <a:ext cx="7602461" cy="1257300"/>
            </a:xfrm>
            <a:prstGeom prst="rect">
              <a:avLst/>
            </a:prstGeom>
            <a:solidFill>
              <a:srgbClr val="F2F4F7"/>
            </a:solidFill>
            <a:ln w="19050" cap="flat" cmpd="sng" algn="ctr">
              <a:solidFill>
                <a:srgbClr val="1B355E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272039" y="5216388"/>
              <a:ext cx="279289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solidFill>
                    <a:srgbClr val="1B355E"/>
                  </a:solidFill>
                  <a:latin typeface="Calibri"/>
                </a:rPr>
                <a:t>Benefit beyond prediction</a:t>
              </a:r>
              <a:endParaRPr b="1" i="0" dirty="0">
                <a:solidFill>
                  <a:srgbClr val="1B355E"/>
                </a:solidFill>
                <a:latin typeface="Calibri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352808" y="5551144"/>
              <a:ext cx="7714259" cy="713825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228600" indent="-228600">
                <a:spcBef>
                  <a:spcPts val="400"/>
                </a:spcBef>
                <a:spcAft>
                  <a:spcPts val="200"/>
                </a:spcAft>
                <a:buFont typeface="Arial"/>
                <a:buChar char="•"/>
              </a:pPr>
              <a:r>
                <a:rPr lang="en-US" dirty="0">
                  <a:solidFill>
                    <a:srgbClr val="444C5A"/>
                  </a:solidFill>
                  <a:latin typeface="Calibri"/>
                </a:rPr>
                <a:t>NMF achieves moderate c-index despite failing to find prognostic programs </a:t>
              </a:r>
            </a:p>
            <a:p>
              <a:pPr marL="228600" indent="-228600">
                <a:spcBef>
                  <a:spcPts val="400"/>
                </a:spcBef>
                <a:spcAft>
                  <a:spcPts val="200"/>
                </a:spcAft>
                <a:buFont typeface="Arial"/>
                <a:buChar char="•"/>
              </a:pPr>
              <a:r>
                <a:rPr lang="en-US" dirty="0">
                  <a:solidFill>
                    <a:srgbClr val="444C5A"/>
                  </a:solidFill>
                  <a:latin typeface="Calibri"/>
                </a:rPr>
                <a:t>Benefit of </a:t>
              </a:r>
              <a:r>
                <a:rPr lang="en-US" dirty="0" err="1">
                  <a:solidFill>
                    <a:srgbClr val="444C5A"/>
                  </a:solidFill>
                  <a:latin typeface="Calibri"/>
                </a:rPr>
                <a:t>DeSurv</a:t>
              </a:r>
              <a:r>
                <a:rPr lang="en-US" dirty="0">
                  <a:solidFill>
                    <a:srgbClr val="444C5A"/>
                  </a:solidFill>
                  <a:latin typeface="Calibri"/>
                </a:rPr>
                <a:t> extends beyond prediction – prognostic program recovery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336C2FF-7614-337A-A76E-0D2DB49FBDA6}"/>
              </a:ext>
            </a:extLst>
          </p:cNvPr>
          <p:cNvGrpSpPr/>
          <p:nvPr/>
        </p:nvGrpSpPr>
        <p:grpSpPr>
          <a:xfrm>
            <a:off x="317500" y="2003288"/>
            <a:ext cx="3721100" cy="4394200"/>
            <a:chOff x="317500" y="2003288"/>
            <a:chExt cx="3721100" cy="4394200"/>
          </a:xfrm>
        </p:grpSpPr>
        <p:sp>
          <p:nvSpPr>
            <p:cNvPr id="7" name="Rectangle 6"/>
            <p:cNvSpPr/>
            <p:nvPr/>
          </p:nvSpPr>
          <p:spPr>
            <a:xfrm>
              <a:off x="317500" y="2003288"/>
              <a:ext cx="3721100" cy="4394200"/>
            </a:xfrm>
            <a:prstGeom prst="rect">
              <a:avLst/>
            </a:prstGeom>
            <a:solidFill>
              <a:srgbClr val="F2F4F7"/>
            </a:solidFill>
            <a:ln w="19050" cap="flat" cmpd="sng" algn="ctr">
              <a:solidFill>
                <a:srgbClr val="007A7C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57200" y="2079488"/>
              <a:ext cx="34417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b="1" i="0" dirty="0">
                  <a:solidFill>
                    <a:srgbClr val="007A7C"/>
                  </a:solidFill>
                  <a:latin typeface="Calibri"/>
                </a:rPr>
                <a:t>C-index (test set)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/>
                <p:cNvSpPr txBox="1"/>
                <p:nvPr/>
              </p:nvSpPr>
              <p:spPr>
                <a:xfrm>
                  <a:off x="457200" y="2435088"/>
                  <a:ext cx="3441700" cy="825500"/>
                </a:xfrm>
                <a:prstGeom prst="rect">
                  <a:avLst/>
                </a:prstGeom>
                <a:noFill/>
              </p:spPr>
              <p:txBody>
                <a:bodyPr wrap="square">
                  <a:noAutofit/>
                </a:bodyPr>
                <a:lstStyle/>
                <a:p>
                  <a:pPr marL="285750" indent="-285750" algn="l">
                    <a:lnSpc>
                      <a:spcPts val="2200"/>
                    </a:lnSpc>
                    <a:buFont typeface="Arial" panose="020B0604020202020204" pitchFamily="34" charset="0"/>
                    <a:buChar char="•"/>
                  </a:pPr>
                  <a:r>
                    <a:rPr lang="en-US" dirty="0">
                      <a:solidFill>
                        <a:srgbClr val="444C5A"/>
                      </a:solidFill>
                      <a:latin typeface="Calibri"/>
                    </a:rPr>
                    <a:t>DeSurv median:  </a:t>
                  </a:r>
                  <a14:m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444C5A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</m:oMath>
                  </a14:m>
                  <a:r>
                    <a:rPr lang="en-US" dirty="0">
                      <a:solidFill>
                        <a:srgbClr val="444C5A"/>
                      </a:solidFill>
                      <a:latin typeface="Calibri"/>
                    </a:rPr>
                    <a:t> 0.84
NMF median:     </a:t>
                  </a:r>
                  <a14:m>
                    <m:oMath xmlns:m="http://schemas.openxmlformats.org/officeDocument/2006/math">
                      <m:r>
                        <a:rPr lang="en-US" b="0" i="0" dirty="0" smtClean="0">
                          <a:solidFill>
                            <a:srgbClr val="444C5A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i="1" dirty="0" smtClean="0">
                          <a:solidFill>
                            <a:srgbClr val="444C5A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</m:oMath>
                  </a14:m>
                  <a:r>
                    <a:rPr lang="en-US" dirty="0">
                      <a:solidFill>
                        <a:srgbClr val="444C5A"/>
                      </a:solidFill>
                      <a:latin typeface="Calibri"/>
                    </a:rPr>
                    <a:t> 0.72
Δ ≈ 0.12</a:t>
                  </a:r>
                </a:p>
              </p:txBody>
            </p:sp>
          </mc:Choice>
          <mc:Fallback xmlns="">
            <p:sp>
              <p:nvSpPr>
                <p:cNvPr id="9" name="TextBox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" y="2435088"/>
                  <a:ext cx="3441700" cy="825500"/>
                </a:xfrm>
                <a:prstGeom prst="rect">
                  <a:avLst/>
                </a:prstGeom>
                <a:blipFill>
                  <a:blip r:embed="rId2"/>
                  <a:stretch>
                    <a:fillRect l="-1062" t="-4412" b="-2279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2" name="Picture 21" descr="A group of diagrams with different colored squares&#10;&#10;AI-generated content may be incorrect.">
              <a:extLst>
                <a:ext uri="{FF2B5EF4-FFF2-40B4-BE49-F238E27FC236}">
                  <a16:creationId xmlns:a16="http://schemas.microsoft.com/office/drawing/2014/main" id="{43DBBD51-33B1-96CB-3DC0-26539F0366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53875" b="51268"/>
            <a:stretch>
              <a:fillRect/>
            </a:stretch>
          </p:blipFill>
          <p:spPr>
            <a:xfrm>
              <a:off x="457200" y="3578088"/>
              <a:ext cx="3441700" cy="274320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67DA253-8984-A09F-C94B-C943FA8A477E}"/>
              </a:ext>
            </a:extLst>
          </p:cNvPr>
          <p:cNvGrpSpPr/>
          <p:nvPr/>
        </p:nvGrpSpPr>
        <p:grpSpPr>
          <a:xfrm>
            <a:off x="4216400" y="2003288"/>
            <a:ext cx="7620000" cy="2968366"/>
            <a:chOff x="4216400" y="2003288"/>
            <a:chExt cx="7620000" cy="2968366"/>
          </a:xfrm>
        </p:grpSpPr>
        <p:sp>
          <p:nvSpPr>
            <p:cNvPr id="12" name="Rectangle 11"/>
            <p:cNvSpPr/>
            <p:nvPr/>
          </p:nvSpPr>
          <p:spPr>
            <a:xfrm>
              <a:off x="4216400" y="2003288"/>
              <a:ext cx="7620000" cy="2968366"/>
            </a:xfrm>
            <a:prstGeom prst="rect">
              <a:avLst/>
            </a:prstGeom>
            <a:solidFill>
              <a:srgbClr val="F2F4F7"/>
            </a:solidFill>
            <a:ln w="19050" cap="flat" cmpd="sng" algn="ctr">
              <a:solidFill>
                <a:srgbClr val="E07B1C"/>
              </a:solidFill>
              <a:prstDash val="soli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356100" y="2079488"/>
              <a:ext cx="34417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b="1" i="0" dirty="0">
                  <a:solidFill>
                    <a:srgbClr val="E07B1C"/>
                  </a:solidFill>
                  <a:latin typeface="Calibri"/>
                </a:rPr>
                <a:t>Gene Program Precision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356099" y="2435088"/>
              <a:ext cx="3107019" cy="1079500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marL="285750" indent="-285750" algn="l">
                <a:lnSpc>
                  <a:spcPts val="2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444C5A"/>
                  </a:solidFill>
                  <a:latin typeface="Calibri"/>
                </a:rPr>
                <a:t>Fraction of top genes in learned factor overlapping the true prognostic program</a:t>
              </a:r>
            </a:p>
            <a:p>
              <a:pPr marL="285750" indent="-285750" algn="l">
                <a:lnSpc>
                  <a:spcPts val="2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444C5A"/>
                  </a:solidFill>
                  <a:latin typeface="Calibri"/>
                </a:rPr>
                <a:t>NMF: near zero</a:t>
              </a:r>
            </a:p>
            <a:p>
              <a:pPr marL="285750" indent="-285750" algn="l">
                <a:lnSpc>
                  <a:spcPts val="2000"/>
                </a:lnSpc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dirty="0" err="1">
                  <a:solidFill>
                    <a:srgbClr val="444C5A"/>
                  </a:solidFill>
                  <a:latin typeface="Calibri"/>
                </a:rPr>
                <a:t>DeSurv</a:t>
              </a:r>
              <a:r>
                <a:rPr lang="en-US" dirty="0">
                  <a:solidFill>
                    <a:srgbClr val="444C5A"/>
                  </a:solidFill>
                  <a:latin typeface="Calibri"/>
                </a:rPr>
                <a:t>: substantially higher</a:t>
              </a:r>
            </a:p>
          </p:txBody>
        </p:sp>
        <p:pic>
          <p:nvPicPr>
            <p:cNvPr id="23" name="Picture 22" descr="A group of diagrams with different colored squares&#10;&#10;AI-generated content may be incorrect.">
              <a:extLst>
                <a:ext uri="{FF2B5EF4-FFF2-40B4-BE49-F238E27FC236}">
                  <a16:creationId xmlns:a16="http://schemas.microsoft.com/office/drawing/2014/main" id="{CC482AEA-9937-BF2A-9787-492E4F886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5902" t="-2333" r="7678" b="51346"/>
            <a:stretch>
              <a:fillRect/>
            </a:stretch>
          </p:blipFill>
          <p:spPr>
            <a:xfrm>
              <a:off x="8009537" y="2021941"/>
              <a:ext cx="3412787" cy="2836924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021A734-67D1-F7A8-79A1-B9410901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1163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Model Selection in PDAC: BO + 1-SE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dirty="0">
                <a:solidFill>
                  <a:srgbClr val="CCD0D8"/>
                </a:solidFill>
                <a:latin typeface="Calibri"/>
              </a:rPr>
              <a:t>Training cohorts: TCGA-PAAD + CPTAC-3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32120" y="1915937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 dirty="0">
                <a:solidFill>
                  <a:srgbClr val="007A7C"/>
                </a:solidFill>
                <a:latin typeface="Calibri"/>
              </a:rPr>
              <a:t>→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B37148B-4B86-A86A-115C-A6B3C4E903E3}"/>
              </a:ext>
            </a:extLst>
          </p:cNvPr>
          <p:cNvGrpSpPr/>
          <p:nvPr/>
        </p:nvGrpSpPr>
        <p:grpSpPr>
          <a:xfrm>
            <a:off x="320040" y="1188720"/>
            <a:ext cx="5394960" cy="5175506"/>
            <a:chOff x="320040" y="1188720"/>
            <a:chExt cx="5394960" cy="5175506"/>
          </a:xfrm>
        </p:grpSpPr>
        <p:sp>
          <p:nvSpPr>
            <p:cNvPr id="5" name="Rectangle 4"/>
            <p:cNvSpPr/>
            <p:nvPr/>
          </p:nvSpPr>
          <p:spPr>
            <a:xfrm>
              <a:off x="320040" y="1188720"/>
              <a:ext cx="5394960" cy="5175506"/>
            </a:xfrm>
            <a:prstGeom prst="rect">
              <a:avLst/>
            </a:prstGeom>
            <a:solidFill>
              <a:srgbClr val="F2F4F7"/>
            </a:solidFill>
            <a:ln>
              <a:solidFill>
                <a:srgbClr val="CCD0D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57200" y="1261872"/>
              <a:ext cx="51663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b="1" i="0" dirty="0">
                  <a:solidFill>
                    <a:srgbClr val="C0392B"/>
                  </a:solidFill>
                  <a:latin typeface="Calibri"/>
                </a:rPr>
                <a:t>Standard NMF rank selection in PDAC: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57200" y="1664208"/>
              <a:ext cx="516636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228600">
                <a:buChar char="•"/>
              </a:pPr>
              <a:r>
                <a:rPr dirty="0">
                  <a:solidFill>
                    <a:srgbClr val="444C5A"/>
                  </a:solidFill>
                  <a:latin typeface="Calibri"/>
                </a:rPr>
                <a:t>Reconstruction residuals:</a:t>
              </a:r>
              <a:r>
                <a:rPr lang="en-US" dirty="0">
                  <a:solidFill>
                    <a:srgbClr val="444C5A"/>
                  </a:solidFill>
                  <a:latin typeface="Calibri"/>
                </a:rPr>
                <a:t> </a:t>
              </a:r>
              <a:r>
                <a:rPr dirty="0">
                  <a:solidFill>
                    <a:srgbClr val="444C5A"/>
                  </a:solidFill>
                  <a:latin typeface="Calibri"/>
                </a:rPr>
                <a:t>elbow</a:t>
              </a:r>
              <a:r>
                <a:rPr lang="en-US" dirty="0">
                  <a:solidFill>
                    <a:srgbClr val="444C5A"/>
                  </a:solidFill>
                  <a:latin typeface="Calibri"/>
                </a:rPr>
                <a:t> around k=5</a:t>
              </a:r>
              <a:endParaRPr dirty="0">
                <a:solidFill>
                  <a:srgbClr val="444C5A"/>
                </a:solidFill>
                <a:latin typeface="Calibri"/>
              </a:endParaRPr>
            </a:p>
            <a:p>
              <a:pPr marL="342900" indent="-228600">
                <a:buChar char="•"/>
              </a:pPr>
              <a:r>
                <a:rPr dirty="0">
                  <a:solidFill>
                    <a:srgbClr val="444C5A"/>
                  </a:solidFill>
                  <a:latin typeface="Calibri"/>
                </a:rPr>
                <a:t>Cophenetic correlation: </a:t>
              </a:r>
              <a:r>
                <a:rPr lang="en-US" dirty="0">
                  <a:solidFill>
                    <a:srgbClr val="444C5A"/>
                  </a:solidFill>
                  <a:latin typeface="Calibri"/>
                </a:rPr>
                <a:t>drops </a:t>
              </a:r>
              <a:r>
                <a:rPr lang="en-US" dirty="0" err="1">
                  <a:solidFill>
                    <a:srgbClr val="444C5A"/>
                  </a:solidFill>
                  <a:latin typeface="Calibri"/>
                </a:rPr>
                <a:t>afer</a:t>
              </a:r>
              <a:r>
                <a:rPr lang="en-US" dirty="0">
                  <a:solidFill>
                    <a:srgbClr val="444C5A"/>
                  </a:solidFill>
                  <a:latin typeface="Calibri"/>
                </a:rPr>
                <a:t> k=3</a:t>
              </a:r>
              <a:endParaRPr dirty="0">
                <a:solidFill>
                  <a:srgbClr val="444C5A"/>
                </a:solidFill>
                <a:latin typeface="Calibri"/>
              </a:endParaRPr>
            </a:p>
            <a:p>
              <a:pPr marL="342900" indent="-228600">
                <a:buChar char="•"/>
              </a:pPr>
              <a:r>
                <a:rPr dirty="0">
                  <a:solidFill>
                    <a:srgbClr val="444C5A"/>
                  </a:solidFill>
                  <a:latin typeface="Calibri"/>
                </a:rPr>
                <a:t>Silhouette </a:t>
              </a:r>
              <a:r>
                <a:rPr lang="en-US" dirty="0">
                  <a:solidFill>
                    <a:srgbClr val="444C5A"/>
                  </a:solidFill>
                  <a:latin typeface="Calibri"/>
                </a:rPr>
                <a:t>score</a:t>
              </a:r>
              <a:r>
                <a:rPr dirty="0">
                  <a:solidFill>
                    <a:srgbClr val="444C5A"/>
                  </a:solidFill>
                  <a:latin typeface="Calibri"/>
                </a:rPr>
                <a:t>: inconsistent</a:t>
              </a:r>
            </a:p>
            <a:p>
              <a:pPr marL="342900" indent="-228600">
                <a:buChar char="•"/>
              </a:pPr>
              <a:r>
                <a:rPr dirty="0">
                  <a:solidFill>
                    <a:srgbClr val="444C5A"/>
                  </a:solidFill>
                  <a:latin typeface="Calibri"/>
                </a:rPr>
                <a:t>→ No single k clearly indicated</a:t>
              </a:r>
            </a:p>
          </p:txBody>
        </p:sp>
        <p:pic>
          <p:nvPicPr>
            <p:cNvPr id="20" name="Picture 19" descr="A graph of different types of data&#10;&#10;AI-generated content may be incorrect.">
              <a:extLst>
                <a:ext uri="{FF2B5EF4-FFF2-40B4-BE49-F238E27FC236}">
                  <a16:creationId xmlns:a16="http://schemas.microsoft.com/office/drawing/2014/main" id="{A0A656DC-E4B5-C033-F8E6-2DE73AB717E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8785" y="3226211"/>
              <a:ext cx="5145241" cy="3001391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83F78F02-7B1F-C576-196B-76342DBD604D}"/>
              </a:ext>
            </a:extLst>
          </p:cNvPr>
          <p:cNvGrpSpPr/>
          <p:nvPr/>
        </p:nvGrpSpPr>
        <p:grpSpPr>
          <a:xfrm>
            <a:off x="5943600" y="1188720"/>
            <a:ext cx="5897880" cy="5175506"/>
            <a:chOff x="5943600" y="1188720"/>
            <a:chExt cx="5897880" cy="5175506"/>
          </a:xfrm>
        </p:grpSpPr>
        <p:sp>
          <p:nvSpPr>
            <p:cNvPr id="11" name="Rectangle 10"/>
            <p:cNvSpPr/>
            <p:nvPr/>
          </p:nvSpPr>
          <p:spPr>
            <a:xfrm>
              <a:off x="5943600" y="1188720"/>
              <a:ext cx="5897880" cy="5175506"/>
            </a:xfrm>
            <a:prstGeom prst="rect">
              <a:avLst/>
            </a:prstGeom>
            <a:solidFill>
              <a:srgbClr val="F2F4F7"/>
            </a:solidFill>
            <a:ln>
              <a:solidFill>
                <a:srgbClr val="007A7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080760" y="1261872"/>
              <a:ext cx="56692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b="1" i="0" dirty="0" err="1">
                  <a:solidFill>
                    <a:srgbClr val="007A7C"/>
                  </a:solidFill>
                  <a:latin typeface="Calibri"/>
                </a:rPr>
                <a:t>DeSurv</a:t>
              </a:r>
              <a:r>
                <a:rPr b="1" i="0" dirty="0">
                  <a:solidFill>
                    <a:srgbClr val="007A7C"/>
                  </a:solidFill>
                  <a:latin typeface="Calibri"/>
                </a:rPr>
                <a:t>: BO over CV C-index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080760" y="1664208"/>
              <a:ext cx="566928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228600">
                <a:buChar char="•"/>
              </a:pPr>
              <a:r>
                <a:rPr dirty="0">
                  <a:solidFill>
                    <a:srgbClr val="444C5A"/>
                  </a:solidFill>
                  <a:latin typeface="Calibri"/>
                </a:rPr>
                <a:t>Bayesian optimization explores (k, α, λ, …)</a:t>
              </a:r>
            </a:p>
            <a:p>
              <a:pPr marL="342900" indent="-228600">
                <a:buChar char="•"/>
              </a:pPr>
              <a:r>
                <a:rPr dirty="0">
                  <a:solidFill>
                    <a:srgbClr val="444C5A"/>
                  </a:solidFill>
                  <a:latin typeface="Calibri"/>
                </a:rPr>
                <a:t>Objective = cross-validated C-index</a:t>
              </a:r>
              <a:endParaRPr lang="en-US" dirty="0">
                <a:solidFill>
                  <a:srgbClr val="444C5A"/>
                </a:solidFill>
                <a:latin typeface="Calibri"/>
              </a:endParaRPr>
            </a:p>
            <a:p>
              <a:pPr marL="342900" indent="-228600">
                <a:buChar char="•"/>
              </a:pPr>
              <a:r>
                <a:rPr dirty="0">
                  <a:solidFill>
                    <a:srgbClr val="444C5A"/>
                  </a:solidFill>
                  <a:latin typeface="Calibri"/>
                </a:rPr>
                <a:t>GP-predicted mean C-index over k × α grid</a:t>
              </a:r>
            </a:p>
            <a:p>
              <a:pPr marL="342900" indent="-228600">
                <a:buChar char="•"/>
              </a:pPr>
              <a:r>
                <a:rPr dirty="0">
                  <a:solidFill>
                    <a:srgbClr val="444C5A"/>
                  </a:solidFill>
                  <a:latin typeface="Calibri"/>
                </a:rPr>
                <a:t>1-SE rule: smallest k within 1 SE of max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121101" y="2958357"/>
              <a:ext cx="5577840" cy="487854"/>
            </a:xfrm>
            <a:prstGeom prst="rect">
              <a:avLst/>
            </a:prstGeom>
            <a:solidFill>
              <a:srgbClr val="1B35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258261" y="3014296"/>
              <a:ext cx="53035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sz="1800" b="1" i="0" dirty="0">
                  <a:solidFill>
                    <a:srgbClr val="FFFFFF"/>
                  </a:solidFill>
                  <a:latin typeface="Calibri"/>
                </a:rPr>
                <a:t>PDAC result:   k = 3,   α ≈ 0.37   (CV C-index = 0.63)</a:t>
              </a:r>
            </a:p>
          </p:txBody>
        </p:sp>
        <p:pic>
          <p:nvPicPr>
            <p:cNvPr id="22" name="Picture 21" descr="A group of diagrams with different colored squares&#10;&#10;AI-generated content may be incorrect.">
              <a:extLst>
                <a:ext uri="{FF2B5EF4-FFF2-40B4-BE49-F238E27FC236}">
                  <a16:creationId xmlns:a16="http://schemas.microsoft.com/office/drawing/2014/main" id="{7E901C55-3CF3-4E54-BFD9-A14CF346DB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5259" t="50000"/>
            <a:stretch>
              <a:fillRect/>
            </a:stretch>
          </p:blipFill>
          <p:spPr>
            <a:xfrm>
              <a:off x="7306085" y="3486551"/>
              <a:ext cx="3253592" cy="2743205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448F19BF-4CF7-2C03-2F77-C9E7F1637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 dirty="0">
                <a:solidFill>
                  <a:srgbClr val="FFFFFF"/>
                </a:solidFill>
                <a:latin typeface="Calibri"/>
              </a:rPr>
              <a:t>PDAC Factor Structure: </a:t>
            </a:r>
            <a:r>
              <a:rPr sz="2600" b="1" i="0" dirty="0" err="1">
                <a:solidFill>
                  <a:srgbClr val="FFFFFF"/>
                </a:solidFill>
                <a:latin typeface="Calibri"/>
              </a:rPr>
              <a:t>DeSurv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 vs. Standard NMF  (both </a:t>
            </a:r>
            <a:r>
              <a:rPr lang="en-US" sz="2600" b="1" i="0" dirty="0">
                <a:solidFill>
                  <a:srgbClr val="FFFFFF"/>
                </a:solidFill>
                <a:latin typeface="Calibri"/>
              </a:rPr>
              <a:t>at 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k = 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dirty="0">
                <a:solidFill>
                  <a:srgbClr val="CCD0D8"/>
                </a:solidFill>
                <a:latin typeface="Calibri"/>
              </a:rPr>
              <a:t>Gene program identity measured by Spearman correlation to established PDAC reference signatures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513650" y="1188720"/>
            <a:ext cx="5577840" cy="5238864"/>
          </a:xfrm>
          <a:prstGeom prst="rect">
            <a:avLst/>
          </a:prstGeom>
          <a:solidFill>
            <a:srgbClr val="F2F4F7"/>
          </a:solidFill>
          <a:ln>
            <a:solidFill>
              <a:srgbClr val="007A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n w="12700">
                <a:solidFill>
                  <a:schemeClr val="tx1"/>
                </a:solidFill>
              </a:ln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50810" y="126187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 dirty="0" err="1">
                <a:solidFill>
                  <a:srgbClr val="007A7C"/>
                </a:solidFill>
                <a:latin typeface="Calibri"/>
              </a:rPr>
              <a:t>DeSurv</a:t>
            </a:r>
            <a:r>
              <a:rPr sz="1700" b="1" i="0" dirty="0">
                <a:solidFill>
                  <a:srgbClr val="007A7C"/>
                </a:solidFill>
                <a:latin typeface="Calibri"/>
              </a:rPr>
              <a:t>  (k = 3,  α = 0.37)</a:t>
            </a:r>
          </a:p>
        </p:txBody>
      </p:sp>
      <p:sp>
        <p:nvSpPr>
          <p:cNvPr id="8" name="Rectangle 7"/>
          <p:cNvSpPr/>
          <p:nvPr/>
        </p:nvSpPr>
        <p:spPr>
          <a:xfrm>
            <a:off x="156342" y="1188720"/>
            <a:ext cx="5220148" cy="5238864"/>
          </a:xfrm>
          <a:prstGeom prst="rect">
            <a:avLst/>
          </a:prstGeom>
          <a:solidFill>
            <a:srgbClr val="F2F4F7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3502" y="126187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0392B"/>
                </a:solidFill>
                <a:latin typeface="Calibri"/>
              </a:rPr>
              <a:t>Standard NMF  (k = 3)</a:t>
            </a:r>
          </a:p>
        </p:txBody>
      </p:sp>
      <p:pic>
        <p:nvPicPr>
          <p:cNvPr id="13" name="Picture 12" descr="A screenshot of a graph&#10;&#10;AI-generated content may be incorrect.">
            <a:extLst>
              <a:ext uri="{FF2B5EF4-FFF2-40B4-BE49-F238E27FC236}">
                <a16:creationId xmlns:a16="http://schemas.microsoft.com/office/drawing/2014/main" id="{B4B092E7-C96A-4412-E12F-16361752F3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403" r="53071" b="50000"/>
          <a:stretch>
            <a:fillRect/>
          </a:stretch>
        </p:blipFill>
        <p:spPr>
          <a:xfrm>
            <a:off x="5632394" y="1581912"/>
            <a:ext cx="5367655" cy="475768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 descr="A screenshot of a graph&#10;&#10;AI-generated content may be incorrect.">
            <a:extLst>
              <a:ext uri="{FF2B5EF4-FFF2-40B4-BE49-F238E27FC236}">
                <a16:creationId xmlns:a16="http://schemas.microsoft.com/office/drawing/2014/main" id="{0B8D7954-EF73-86A9-0CA7-63FF78374C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292" t="8825" r="6120" b="47477"/>
          <a:stretch>
            <a:fillRect/>
          </a:stretch>
        </p:blipFill>
        <p:spPr>
          <a:xfrm>
            <a:off x="293502" y="1581912"/>
            <a:ext cx="4975412" cy="476906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" name="Picture 14" descr="A screenshot of a graph&#10;&#10;AI-generated content may be incorrect.">
            <a:extLst>
              <a:ext uri="{FF2B5EF4-FFF2-40B4-BE49-F238E27FC236}">
                <a16:creationId xmlns:a16="http://schemas.microsoft.com/office/drawing/2014/main" id="{8D885C3F-3C08-CB9E-7616-5A584DD8BA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3756" t="22765" b="55437"/>
          <a:stretch>
            <a:fillRect/>
          </a:stretch>
        </p:blipFill>
        <p:spPr>
          <a:xfrm>
            <a:off x="11228650" y="2251306"/>
            <a:ext cx="796476" cy="278058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8FD3A1E-39BF-35D8-0285-DC0908BBB6DA}"/>
              </a:ext>
            </a:extLst>
          </p:cNvPr>
          <p:cNvSpPr txBox="1"/>
          <p:nvPr/>
        </p:nvSpPr>
        <p:spPr>
          <a:xfrm rot="16200000">
            <a:off x="5496481" y="1996196"/>
            <a:ext cx="14766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Classical +</a:t>
            </a:r>
          </a:p>
          <a:p>
            <a:r>
              <a:rPr lang="en-US" sz="2400" b="1" dirty="0"/>
              <a:t> </a:t>
            </a:r>
            <a:r>
              <a:rPr lang="en-US" sz="2400" b="1" dirty="0" err="1"/>
              <a:t>restCAF</a:t>
            </a:r>
            <a:endParaRPr lang="en-US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22FD6F-DB90-9BDB-6E3E-7FE3EB0734BD}"/>
              </a:ext>
            </a:extLst>
          </p:cNvPr>
          <p:cNvSpPr txBox="1"/>
          <p:nvPr/>
        </p:nvSpPr>
        <p:spPr>
          <a:xfrm rot="16200000">
            <a:off x="6731357" y="3794599"/>
            <a:ext cx="11144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 err="1"/>
              <a:t>proCAF</a:t>
            </a:r>
            <a:endParaRPr lang="en-US" sz="24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828D9B9-107C-E95E-BF17-70D4E9AF60D6}"/>
              </a:ext>
            </a:extLst>
          </p:cNvPr>
          <p:cNvSpPr txBox="1"/>
          <p:nvPr/>
        </p:nvSpPr>
        <p:spPr>
          <a:xfrm rot="16200000">
            <a:off x="7602089" y="5365296"/>
            <a:ext cx="14009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Basal-like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16446E-6D6E-708C-E399-41AB3342328D}"/>
              </a:ext>
            </a:extLst>
          </p:cNvPr>
          <p:cNvSpPr txBox="1"/>
          <p:nvPr/>
        </p:nvSpPr>
        <p:spPr>
          <a:xfrm rot="16200000">
            <a:off x="233938" y="2919205"/>
            <a:ext cx="12520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Classical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8A44D6-1427-7A31-C41B-A46142E429EC}"/>
              </a:ext>
            </a:extLst>
          </p:cNvPr>
          <p:cNvSpPr txBox="1"/>
          <p:nvPr/>
        </p:nvSpPr>
        <p:spPr>
          <a:xfrm rot="16200000">
            <a:off x="1197854" y="1984907"/>
            <a:ext cx="1267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Exocrine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B11FF93-38E3-8C1E-AA7C-5476318659F8}"/>
              </a:ext>
            </a:extLst>
          </p:cNvPr>
          <p:cNvSpPr txBox="1"/>
          <p:nvPr/>
        </p:nvSpPr>
        <p:spPr>
          <a:xfrm rot="16200000">
            <a:off x="1478435" y="4801056"/>
            <a:ext cx="25759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Microenvironment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D8E778B-376E-6D2B-7DF6-B70005569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095362-F8B4-9CEF-5E22-D3AE70B4E000}"/>
              </a:ext>
            </a:extLst>
          </p:cNvPr>
          <p:cNvSpPr/>
          <p:nvPr/>
        </p:nvSpPr>
        <p:spPr>
          <a:xfrm>
            <a:off x="1293235" y="5020063"/>
            <a:ext cx="3028458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accent3">
                    <a:lumMod val="50000"/>
                  </a:schemeClr>
                </a:solidFill>
              </a:rPr>
              <a:t>Dominant tissue types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227E8CB-B36B-6B22-D262-1BF42F2361D4}"/>
              </a:ext>
            </a:extLst>
          </p:cNvPr>
          <p:cNvSpPr/>
          <p:nvPr/>
        </p:nvSpPr>
        <p:spPr>
          <a:xfrm>
            <a:off x="6788340" y="5020063"/>
            <a:ext cx="3028458" cy="914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2"/>
                </a:solidFill>
              </a:rPr>
              <a:t>Established prognostic programming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EC1D452B-A6F1-01E2-AB5C-61DBCF1126A9}"/>
              </a:ext>
            </a:extLst>
          </p:cNvPr>
          <p:cNvSpPr/>
          <p:nvPr/>
        </p:nvSpPr>
        <p:spPr>
          <a:xfrm>
            <a:off x="4965405" y="5165497"/>
            <a:ext cx="1233376" cy="564239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16" grpId="0"/>
      <p:bldP spid="17" grpId="0"/>
      <p:bldP spid="18" grpId="0"/>
      <p:bldP spid="19" grpId="0"/>
      <p:bldP spid="20" grpId="0"/>
      <p:bldP spid="21" grpId="0"/>
      <p:bldP spid="12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Variance vs. Survival Contribution in PDAC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dirty="0">
                <a:solidFill>
                  <a:srgbClr val="CCD0D8"/>
                </a:solidFill>
                <a:latin typeface="Calibri"/>
              </a:rPr>
              <a:t>Semi-partial R² (expression variance)  vs.  </a:t>
            </a:r>
            <a:r>
              <a:rPr b="0" i="1" dirty="0" err="1">
                <a:solidFill>
                  <a:srgbClr val="CCD0D8"/>
                </a:solidFill>
                <a:latin typeface="Calibri"/>
              </a:rPr>
              <a:t>ΔCox</a:t>
            </a:r>
            <a:r>
              <a:rPr b="0" i="1" dirty="0">
                <a:solidFill>
                  <a:srgbClr val="CCD0D8"/>
                </a:solidFill>
                <a:latin typeface="Calibri"/>
              </a:rPr>
              <a:t> log-likelihood (survival contribution per factor)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6949440" cy="5188931"/>
          </a:xfrm>
          <a:prstGeom prst="rect">
            <a:avLst/>
          </a:prstGeom>
          <a:solidFill>
            <a:srgbClr val="F2F4F7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452360" y="1188720"/>
            <a:ext cx="4434840" cy="5188931"/>
          </a:xfrm>
          <a:prstGeom prst="rect">
            <a:avLst/>
          </a:prstGeom>
          <a:solidFill>
            <a:srgbClr val="F2F4F7"/>
          </a:solidFill>
          <a:ln>
            <a:solidFill>
              <a:srgbClr val="1B3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589520" y="126187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B355E"/>
                </a:solidFill>
                <a:latin typeface="Calibri"/>
              </a:rPr>
              <a:t>Key findings: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664208"/>
            <a:ext cx="420624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228600">
              <a:spcAft>
                <a:spcPts val="600"/>
              </a:spcAft>
              <a:buChar char="•"/>
            </a:pPr>
            <a:r>
              <a:rPr dirty="0">
                <a:solidFill>
                  <a:srgbClr val="444C5A"/>
                </a:solidFill>
                <a:latin typeface="Calibri"/>
              </a:rPr>
              <a:t>NMF</a:t>
            </a:r>
            <a:r>
              <a:rPr lang="en-US" dirty="0">
                <a:solidFill>
                  <a:srgbClr val="444C5A"/>
                </a:solidFill>
                <a:latin typeface="Calibri"/>
              </a:rPr>
              <a:t> factors primarily explain dominant expression patterns</a:t>
            </a:r>
            <a:endParaRPr dirty="0">
              <a:solidFill>
                <a:srgbClr val="444C5A"/>
              </a:solidFill>
              <a:latin typeface="Calibri"/>
            </a:endParaRPr>
          </a:p>
          <a:p>
            <a:pPr marL="685800" indent="-228600">
              <a:spcAft>
                <a:spcPts val="600"/>
              </a:spcAft>
              <a:buChar char="–"/>
            </a:pPr>
            <a:r>
              <a:rPr dirty="0" err="1">
                <a:solidFill>
                  <a:srgbClr val="444C5A"/>
                </a:solidFill>
                <a:latin typeface="Calibri"/>
              </a:rPr>
              <a:t>ΔCox</a:t>
            </a:r>
            <a:r>
              <a:rPr dirty="0">
                <a:solidFill>
                  <a:srgbClr val="444C5A"/>
                </a:solidFill>
                <a:latin typeface="Calibri"/>
              </a:rPr>
              <a:t> ≈ 0  (no survival contribution)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dirty="0" err="1">
                <a:solidFill>
                  <a:srgbClr val="444C5A"/>
                </a:solidFill>
                <a:latin typeface="Calibri"/>
              </a:rPr>
              <a:t>DeSurv</a:t>
            </a:r>
            <a:r>
              <a:rPr dirty="0">
                <a:solidFill>
                  <a:srgbClr val="444C5A"/>
                </a:solidFill>
                <a:latin typeface="Calibri"/>
              </a:rPr>
              <a:t> most prognostic factor (D1):</a:t>
            </a:r>
          </a:p>
          <a:p>
            <a:pPr marL="685800" indent="-228600">
              <a:spcAft>
                <a:spcPts val="600"/>
              </a:spcAft>
              <a:buChar char="–"/>
            </a:pPr>
            <a:r>
              <a:rPr lang="en-US" dirty="0">
                <a:solidFill>
                  <a:srgbClr val="444C5A"/>
                </a:solidFill>
                <a:latin typeface="Calibri"/>
              </a:rPr>
              <a:t>Low</a:t>
            </a:r>
            <a:r>
              <a:rPr dirty="0">
                <a:solidFill>
                  <a:srgbClr val="444C5A"/>
                </a:solidFill>
                <a:latin typeface="Calibri"/>
              </a:rPr>
              <a:t> variance </a:t>
            </a:r>
            <a:r>
              <a:rPr lang="en-US" dirty="0">
                <a:solidFill>
                  <a:srgbClr val="444C5A"/>
                </a:solidFill>
                <a:latin typeface="Calibri"/>
              </a:rPr>
              <a:t>&lt;10</a:t>
            </a:r>
            <a:r>
              <a:rPr dirty="0">
                <a:solidFill>
                  <a:srgbClr val="444C5A"/>
                </a:solidFill>
                <a:latin typeface="Calibri"/>
              </a:rPr>
              <a:t>%</a:t>
            </a:r>
          </a:p>
          <a:p>
            <a:pPr marL="685800" indent="-228600">
              <a:spcAft>
                <a:spcPts val="600"/>
              </a:spcAft>
              <a:buChar char="–"/>
            </a:pPr>
            <a:r>
              <a:rPr dirty="0" err="1">
                <a:solidFill>
                  <a:srgbClr val="444C5A"/>
                </a:solidFill>
                <a:latin typeface="Calibri"/>
              </a:rPr>
              <a:t>ΔCox</a:t>
            </a:r>
            <a:r>
              <a:rPr dirty="0">
                <a:solidFill>
                  <a:srgbClr val="444C5A"/>
                </a:solidFill>
                <a:latin typeface="Calibri"/>
              </a:rPr>
              <a:t> &gt;&gt; 0  (all survival signal here)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dirty="0">
                <a:solidFill>
                  <a:srgbClr val="444C5A"/>
                </a:solidFill>
                <a:latin typeface="Calibri"/>
              </a:rPr>
              <a:t>All NMF factors: negligible </a:t>
            </a:r>
            <a:r>
              <a:rPr dirty="0" err="1">
                <a:solidFill>
                  <a:srgbClr val="444C5A"/>
                </a:solidFill>
                <a:latin typeface="Calibri"/>
              </a:rPr>
              <a:t>ΔCox</a:t>
            </a:r>
            <a:br>
              <a:rPr dirty="0">
                <a:solidFill>
                  <a:srgbClr val="444C5A"/>
                </a:solidFill>
                <a:latin typeface="Calibri"/>
              </a:rPr>
            </a:br>
            <a:r>
              <a:rPr dirty="0">
                <a:solidFill>
                  <a:srgbClr val="444C5A"/>
                </a:solidFill>
                <a:latin typeface="Calibri"/>
              </a:rPr>
              <a:t>despite spanning range of variance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dirty="0">
                <a:solidFill>
                  <a:srgbClr val="444C5A"/>
                </a:solidFill>
                <a:latin typeface="Calibri"/>
              </a:rPr>
              <a:t>→ </a:t>
            </a:r>
            <a:r>
              <a:rPr lang="en-US" dirty="0">
                <a:solidFill>
                  <a:srgbClr val="444C5A"/>
                </a:solidFill>
                <a:latin typeface="Calibri"/>
              </a:rPr>
              <a:t>Dominance</a:t>
            </a:r>
            <a:r>
              <a:rPr dirty="0">
                <a:solidFill>
                  <a:srgbClr val="444C5A"/>
                </a:solidFill>
                <a:latin typeface="Calibri"/>
              </a:rPr>
              <a:t> and prognosis diverge in PDAC</a:t>
            </a:r>
          </a:p>
        </p:txBody>
      </p:sp>
      <p:pic>
        <p:nvPicPr>
          <p:cNvPr id="12" name="Picture 11" descr="A screenshot of a graph&#10;&#10;AI-generated content may be incorrect.">
            <a:extLst>
              <a:ext uri="{FF2B5EF4-FFF2-40B4-BE49-F238E27FC236}">
                <a16:creationId xmlns:a16="http://schemas.microsoft.com/office/drawing/2014/main" id="{9A9AAC93-D4AE-CF8E-9E32-78BCF80C5B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3655" r="47524"/>
          <a:stretch>
            <a:fillRect/>
          </a:stretch>
        </p:blipFill>
        <p:spPr>
          <a:xfrm>
            <a:off x="831128" y="1869141"/>
            <a:ext cx="5927264" cy="410520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C2B71B3-BE9A-F62C-3AA6-B83729346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External Validation: 5 Independent PDAC Cohorts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>
                <a:solidFill>
                  <a:srgbClr val="CCD0D8"/>
                </a:solidFill>
                <a:latin typeface="Calibri"/>
              </a:rPr>
              <a:t>Scored by projection only — no retraining, no access to validation survival data during training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7223760" cy="5206538"/>
          </a:xfrm>
          <a:prstGeom prst="rect">
            <a:avLst/>
          </a:prstGeom>
          <a:solidFill>
            <a:srgbClr val="F2F4F7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26679" y="1188720"/>
            <a:ext cx="4160520" cy="1965960"/>
          </a:xfrm>
          <a:prstGeom prst="rect">
            <a:avLst/>
          </a:prstGeom>
          <a:solidFill>
            <a:srgbClr val="F2F4F7"/>
          </a:solidFill>
          <a:ln>
            <a:solidFill>
              <a:srgbClr val="1B3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863840" y="1261872"/>
            <a:ext cx="3931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1B355E"/>
                </a:solidFill>
                <a:latin typeface="Calibri"/>
              </a:rPr>
              <a:t>Validation cohorts: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1627632"/>
            <a:ext cx="39319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228600">
              <a:buChar char="•"/>
            </a:pPr>
            <a:r>
              <a:rPr dirty="0">
                <a:solidFill>
                  <a:srgbClr val="444C5A"/>
                </a:solidFill>
                <a:latin typeface="Calibri"/>
              </a:rPr>
              <a:t>Puleo (array)</a:t>
            </a:r>
          </a:p>
          <a:p>
            <a:pPr marL="342900" indent="-228600">
              <a:buChar char="•"/>
            </a:pPr>
            <a:r>
              <a:rPr dirty="0">
                <a:solidFill>
                  <a:srgbClr val="444C5A"/>
                </a:solidFill>
                <a:latin typeface="Calibri"/>
              </a:rPr>
              <a:t>Moffitt (GEO array)</a:t>
            </a:r>
          </a:p>
          <a:p>
            <a:pPr marL="342900" indent="-228600">
              <a:buChar char="•"/>
            </a:pPr>
            <a:r>
              <a:rPr dirty="0">
                <a:solidFill>
                  <a:srgbClr val="444C5A"/>
                </a:solidFill>
                <a:latin typeface="Calibri"/>
              </a:rPr>
              <a:t>PACA-AU (RNA-seq)</a:t>
            </a:r>
          </a:p>
          <a:p>
            <a:pPr marL="342900" indent="-228600">
              <a:buChar char="•"/>
            </a:pPr>
            <a:r>
              <a:rPr dirty="0">
                <a:solidFill>
                  <a:srgbClr val="444C5A"/>
                </a:solidFill>
                <a:latin typeface="Calibri"/>
              </a:rPr>
              <a:t>PACA-AU (array)</a:t>
            </a:r>
          </a:p>
          <a:p>
            <a:pPr marL="342900" indent="-228600">
              <a:buChar char="•"/>
            </a:pPr>
            <a:r>
              <a:rPr dirty="0">
                <a:solidFill>
                  <a:srgbClr val="444C5A"/>
                </a:solidFill>
                <a:latin typeface="Calibri"/>
              </a:rPr>
              <a:t>Dijk (array)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413C730-58B0-BC87-6171-2CCF51A2EBE8}"/>
              </a:ext>
            </a:extLst>
          </p:cNvPr>
          <p:cNvGrpSpPr/>
          <p:nvPr/>
        </p:nvGrpSpPr>
        <p:grpSpPr>
          <a:xfrm>
            <a:off x="7726679" y="3291840"/>
            <a:ext cx="4160520" cy="1188720"/>
            <a:chOff x="7726679" y="3291840"/>
            <a:chExt cx="4160520" cy="1188720"/>
          </a:xfrm>
        </p:grpSpPr>
        <p:sp>
          <p:nvSpPr>
            <p:cNvPr id="10" name="Rectangle 9"/>
            <p:cNvSpPr/>
            <p:nvPr/>
          </p:nvSpPr>
          <p:spPr>
            <a:xfrm>
              <a:off x="7726679" y="3291840"/>
              <a:ext cx="4160520" cy="1188720"/>
            </a:xfrm>
            <a:prstGeom prst="rect">
              <a:avLst/>
            </a:prstGeom>
            <a:solidFill>
              <a:srgbClr val="1B355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863840" y="3383280"/>
              <a:ext cx="3931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b="1" i="0" dirty="0">
                  <a:solidFill>
                    <a:srgbClr val="FFFFFF"/>
                  </a:solidFill>
                  <a:latin typeface="Calibri"/>
                </a:rPr>
                <a:t>Pooled HR per SD  (</a:t>
              </a:r>
              <a:r>
                <a:rPr b="1" i="0" dirty="0" err="1">
                  <a:solidFill>
                    <a:srgbClr val="FFFFFF"/>
                  </a:solidFill>
                  <a:latin typeface="Calibri"/>
                </a:rPr>
                <a:t>DeSurv</a:t>
              </a:r>
              <a:r>
                <a:rPr b="1" i="0" dirty="0">
                  <a:solidFill>
                    <a:srgbClr val="FFFFFF"/>
                  </a:solidFill>
                  <a:latin typeface="Calibri"/>
                </a:rPr>
                <a:t> D1):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863840" y="3723222"/>
              <a:ext cx="3931920" cy="6583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800" b="1" i="0" dirty="0">
                  <a:solidFill>
                    <a:srgbClr val="E07B1C"/>
                  </a:solidFill>
                  <a:latin typeface="Calibri"/>
                </a:rPr>
                <a:t>HR = </a:t>
              </a:r>
              <a:r>
                <a:rPr lang="en-US" b="1" dirty="0">
                  <a:solidFill>
                    <a:srgbClr val="E07B1C"/>
                  </a:solidFill>
                  <a:latin typeface="Calibri"/>
                </a:rPr>
                <a:t>0.76</a:t>
              </a:r>
              <a:r>
                <a:rPr sz="1800" b="1" i="0" dirty="0">
                  <a:solidFill>
                    <a:srgbClr val="E07B1C"/>
                  </a:solidFill>
                  <a:latin typeface="Calibri"/>
                </a:rPr>
                <a:t>  (95% CI </a:t>
              </a:r>
              <a:r>
                <a:rPr lang="en-US" b="1" dirty="0">
                  <a:solidFill>
                    <a:srgbClr val="E07B1C"/>
                  </a:solidFill>
                  <a:latin typeface="Calibri"/>
                </a:rPr>
                <a:t>0.69 – 0.84</a:t>
              </a:r>
              <a:r>
                <a:rPr sz="1800" b="1" i="0" dirty="0">
                  <a:solidFill>
                    <a:srgbClr val="E07B1C"/>
                  </a:solidFill>
                  <a:latin typeface="Calibri"/>
                </a:rPr>
                <a:t>)
P &lt; 0.001   (stratified Cox)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1B289C6-1DB0-7913-7842-6A951396AEF3}"/>
              </a:ext>
            </a:extLst>
          </p:cNvPr>
          <p:cNvGrpSpPr/>
          <p:nvPr/>
        </p:nvGrpSpPr>
        <p:grpSpPr>
          <a:xfrm>
            <a:off x="7726679" y="4617720"/>
            <a:ext cx="4160520" cy="1777538"/>
            <a:chOff x="7726679" y="4617720"/>
            <a:chExt cx="4160520" cy="1777538"/>
          </a:xfrm>
        </p:grpSpPr>
        <p:sp>
          <p:nvSpPr>
            <p:cNvPr id="13" name="Rectangle 12"/>
            <p:cNvSpPr/>
            <p:nvPr/>
          </p:nvSpPr>
          <p:spPr>
            <a:xfrm>
              <a:off x="7726679" y="4617720"/>
              <a:ext cx="4160520" cy="1777538"/>
            </a:xfrm>
            <a:prstGeom prst="rect">
              <a:avLst/>
            </a:prstGeom>
            <a:solidFill>
              <a:srgbClr val="F2F4F7"/>
            </a:solidFill>
            <a:ln>
              <a:solidFill>
                <a:srgbClr val="C0392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863840" y="4690872"/>
              <a:ext cx="3931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b="1" i="0" dirty="0">
                  <a:solidFill>
                    <a:srgbClr val="C0392B"/>
                  </a:solidFill>
                  <a:latin typeface="Calibri"/>
                </a:rPr>
                <a:t>Standard NMF at same rank (k = 3):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863840" y="5074920"/>
              <a:ext cx="3931920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b="0" i="0" dirty="0">
                  <a:solidFill>
                    <a:srgbClr val="444C5A"/>
                  </a:solidFill>
                  <a:latin typeface="Calibri"/>
                </a:rPr>
                <a:t>Weaker pooled effect
</a:t>
              </a:r>
              <a:r>
                <a:rPr lang="en-US" b="0" i="0" dirty="0">
                  <a:solidFill>
                    <a:srgbClr val="444C5A"/>
                  </a:solidFill>
                  <a:latin typeface="Calibri"/>
                </a:rPr>
                <a:t>Inconsistent effect direction within programs</a:t>
              </a:r>
              <a:endParaRPr b="0" i="0" dirty="0">
                <a:solidFill>
                  <a:srgbClr val="444C5A"/>
                </a:solidFill>
                <a:latin typeface="Calibri"/>
              </a:endParaRPr>
            </a:p>
          </p:txBody>
        </p:sp>
      </p:grpSp>
      <p:pic>
        <p:nvPicPr>
          <p:cNvPr id="20" name="Picture 19" descr="A group of graphs and diagrams&#10;&#10;AI-generated content may be incorrect.">
            <a:extLst>
              <a:ext uri="{FF2B5EF4-FFF2-40B4-BE49-F238E27FC236}">
                <a16:creationId xmlns:a16="http://schemas.microsoft.com/office/drawing/2014/main" id="{68412BD9-01AD-84DA-A3C6-7F90CF1681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r="41432" b="5882"/>
          <a:stretch>
            <a:fillRect/>
          </a:stretch>
        </p:blipFill>
        <p:spPr>
          <a:xfrm>
            <a:off x="1198883" y="1202168"/>
            <a:ext cx="4458968" cy="4913450"/>
          </a:xfrm>
          <a:prstGeom prst="rect">
            <a:avLst/>
          </a:prstGeom>
        </p:spPr>
      </p:pic>
      <p:pic>
        <p:nvPicPr>
          <p:cNvPr id="21" name="Picture 20" descr="A group of graphs and diagrams&#10;&#10;AI-generated content may be incorrect.">
            <a:extLst>
              <a:ext uri="{FF2B5EF4-FFF2-40B4-BE49-F238E27FC236}">
                <a16:creationId xmlns:a16="http://schemas.microsoft.com/office/drawing/2014/main" id="{F1F966BE-DEE4-CF90-24AE-435E6F2024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4375" r="39541"/>
          <a:stretch>
            <a:fillRect/>
          </a:stretch>
        </p:blipFill>
        <p:spPr>
          <a:xfrm>
            <a:off x="1391656" y="6077116"/>
            <a:ext cx="4073422" cy="259884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AC2014AD-C0AB-6508-27D1-636BE8B0F818}"/>
              </a:ext>
            </a:extLst>
          </p:cNvPr>
          <p:cNvSpPr/>
          <p:nvPr/>
        </p:nvSpPr>
        <p:spPr>
          <a:xfrm>
            <a:off x="1198882" y="4286250"/>
            <a:ext cx="2298698" cy="14744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3324F0AC-6497-C102-751D-90E13FC3F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Kaplan–Meier Curves: Pooled External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>
                <a:solidFill>
                  <a:srgbClr val="CCD0D8"/>
                </a:solidFill>
                <a:latin typeface="Calibri"/>
              </a:rPr>
              <a:t>Risk groups dichotomized at cross-validated cutpoint learned from training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5577840" cy="4309110"/>
          </a:xfrm>
          <a:prstGeom prst="rect">
            <a:avLst/>
          </a:prstGeom>
          <a:solidFill>
            <a:srgbClr val="F2F4F7"/>
          </a:solidFill>
          <a:ln>
            <a:solidFill>
              <a:srgbClr val="007A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 err="1">
                <a:solidFill>
                  <a:srgbClr val="007A7C"/>
                </a:solidFill>
                <a:latin typeface="Calibri"/>
              </a:rPr>
              <a:t>DeSurv</a:t>
            </a:r>
            <a:endParaRPr sz="1800" b="1" i="0" dirty="0">
              <a:solidFill>
                <a:srgbClr val="007A7C"/>
              </a:solidFill>
              <a:latin typeface="Calibr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664208"/>
            <a:ext cx="5303520" cy="3559302"/>
          </a:xfrm>
          <a:prstGeom prst="rect">
            <a:avLst/>
          </a:prstGeom>
          <a:solidFill>
            <a:srgbClr val="FFFFFF"/>
          </a:solidFill>
          <a:ln>
            <a:solidFill>
              <a:srgbClr val="007A7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35040" y="1188720"/>
            <a:ext cx="5806440" cy="4309110"/>
          </a:xfrm>
          <a:prstGeom prst="rect">
            <a:avLst/>
          </a:prstGeom>
          <a:solidFill>
            <a:srgbClr val="F2F4F7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72200" y="1261872"/>
            <a:ext cx="5577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C0392B"/>
                </a:solidFill>
                <a:latin typeface="Calibri"/>
              </a:rPr>
              <a:t>Standard NMF  (k = 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664208"/>
            <a:ext cx="5577840" cy="3559302"/>
          </a:xfrm>
          <a:prstGeom prst="rect">
            <a:avLst/>
          </a:prstGeom>
          <a:solidFill>
            <a:srgbClr val="FFFFFF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" y="5978649"/>
            <a:ext cx="11567160" cy="451869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6017559"/>
            <a:ext cx="113385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i="0" dirty="0" err="1">
                <a:solidFill>
                  <a:srgbClr val="FFFFFF"/>
                </a:solidFill>
                <a:latin typeface="Calibri"/>
              </a:rPr>
              <a:t>DeSurv</a:t>
            </a:r>
            <a:r>
              <a:rPr b="1" i="0" dirty="0">
                <a:solidFill>
                  <a:srgbClr val="FFFFFF"/>
                </a:solidFill>
                <a:latin typeface="Calibri"/>
              </a:rPr>
              <a:t>: clearer risk stratification with better-separated survival curves</a:t>
            </a:r>
          </a:p>
        </p:txBody>
      </p:sp>
      <p:pic>
        <p:nvPicPr>
          <p:cNvPr id="17" name="Picture 16" descr="A group of graphs and diagrams&#10;&#10;AI-generated content may be incorrect.">
            <a:extLst>
              <a:ext uri="{FF2B5EF4-FFF2-40B4-BE49-F238E27FC236}">
                <a16:creationId xmlns:a16="http://schemas.microsoft.com/office/drawing/2014/main" id="{1558292E-9116-B10E-6066-72D8B55D45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513" b="53116"/>
          <a:stretch>
            <a:fillRect/>
          </a:stretch>
        </p:blipFill>
        <p:spPr>
          <a:xfrm>
            <a:off x="968679" y="1858518"/>
            <a:ext cx="4280561" cy="3317015"/>
          </a:xfrm>
          <a:prstGeom prst="rect">
            <a:avLst/>
          </a:prstGeom>
        </p:spPr>
      </p:pic>
      <p:pic>
        <p:nvPicPr>
          <p:cNvPr id="18" name="Picture 17" descr="A group of graphs and diagrams&#10;&#10;AI-generated content may be incorrect.">
            <a:extLst>
              <a:ext uri="{FF2B5EF4-FFF2-40B4-BE49-F238E27FC236}">
                <a16:creationId xmlns:a16="http://schemas.microsoft.com/office/drawing/2014/main" id="{37689B76-B8F0-701E-CB4A-09E905B852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8188" t="47257" b="5524"/>
          <a:stretch>
            <a:fillRect/>
          </a:stretch>
        </p:blipFill>
        <p:spPr>
          <a:xfrm>
            <a:off x="6782286" y="1858518"/>
            <a:ext cx="4283389" cy="3317015"/>
          </a:xfrm>
          <a:prstGeom prst="rect">
            <a:avLst/>
          </a:prstGeom>
        </p:spPr>
      </p:pic>
      <p:pic>
        <p:nvPicPr>
          <p:cNvPr id="19" name="Picture 18" descr="A group of graphs and diagrams&#10;&#10;AI-generated content may be incorrect.">
            <a:extLst>
              <a:ext uri="{FF2B5EF4-FFF2-40B4-BE49-F238E27FC236}">
                <a16:creationId xmlns:a16="http://schemas.microsoft.com/office/drawing/2014/main" id="{84795372-09EB-6E72-B8E4-A7DCEB8CCB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826" t="94979" b="-47"/>
          <a:stretch>
            <a:fillRect/>
          </a:stretch>
        </p:blipFill>
        <p:spPr>
          <a:xfrm>
            <a:off x="3866221" y="5536693"/>
            <a:ext cx="4511970" cy="433478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558569E-CB3E-D1EF-9AEA-2569D4656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i="0" dirty="0" err="1">
                <a:solidFill>
                  <a:srgbClr val="FFFFFF"/>
                </a:solidFill>
                <a:latin typeface="Calibri"/>
              </a:rPr>
              <a:t>DeSurv</a:t>
            </a:r>
            <a:r>
              <a:rPr lang="en-US" sz="2600" b="1" i="0" dirty="0">
                <a:solidFill>
                  <a:srgbClr val="FFFFFF"/>
                </a:solidFill>
                <a:latin typeface="Calibri"/>
              </a:rPr>
              <a:t> is robust to k selection</a:t>
            </a:r>
            <a:endParaRPr sz="2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dirty="0">
                <a:solidFill>
                  <a:srgbClr val="CCD0D8"/>
                </a:solidFill>
                <a:latin typeface="Calibri"/>
              </a:rPr>
              <a:t>Sensitivity analysis:</a:t>
            </a:r>
            <a:r>
              <a:rPr lang="en-US" b="0" i="1" dirty="0">
                <a:solidFill>
                  <a:srgbClr val="CCD0D8"/>
                </a:solidFill>
                <a:latin typeface="Calibri"/>
              </a:rPr>
              <a:t> grid search over k and alpha, fixing other parameters</a:t>
            </a:r>
            <a:endParaRPr b="0" i="1" dirty="0">
              <a:solidFill>
                <a:srgbClr val="CCD0D8"/>
              </a:solidFill>
              <a:latin typeface="Calibr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826701" y="1205865"/>
            <a:ext cx="6492240" cy="5177790"/>
          </a:xfrm>
          <a:prstGeom prst="rect">
            <a:avLst/>
          </a:prstGeom>
          <a:solidFill>
            <a:srgbClr val="F2F4F7"/>
          </a:solidFill>
          <a:ln>
            <a:solidFill>
              <a:srgbClr val="1B3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54006" y="1279017"/>
            <a:ext cx="46634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B355E"/>
                </a:solidFill>
                <a:latin typeface="Calibri"/>
              </a:rPr>
              <a:t>Across k:</a:t>
            </a:r>
            <a:endParaRPr b="1" i="0" dirty="0">
              <a:solidFill>
                <a:srgbClr val="1B355E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781429" y="1538986"/>
            <a:ext cx="63819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228600">
              <a:buChar char="•"/>
            </a:pPr>
            <a:r>
              <a:rPr lang="en-US" dirty="0" err="1">
                <a:solidFill>
                  <a:srgbClr val="444C5A"/>
                </a:solidFill>
                <a:latin typeface="Calibri"/>
              </a:rPr>
              <a:t>DeSurv</a:t>
            </a:r>
            <a:r>
              <a:rPr lang="en-US" dirty="0">
                <a:solidFill>
                  <a:srgbClr val="444C5A"/>
                </a:solidFill>
                <a:latin typeface="Calibri"/>
              </a:rPr>
              <a:t>: </a:t>
            </a:r>
            <a:r>
              <a:rPr dirty="0">
                <a:solidFill>
                  <a:srgbClr val="444C5A"/>
                </a:solidFill>
                <a:latin typeface="Calibri"/>
              </a:rPr>
              <a:t>Supervision creates broad concordance plateau</a:t>
            </a:r>
            <a:endParaRPr lang="en-US" dirty="0">
              <a:solidFill>
                <a:srgbClr val="444C5A"/>
              </a:solidFill>
              <a:latin typeface="Calibri"/>
            </a:endParaRPr>
          </a:p>
          <a:p>
            <a:pPr marL="342900" indent="-228600">
              <a:buChar char="•"/>
            </a:pPr>
            <a:r>
              <a:rPr dirty="0">
                <a:solidFill>
                  <a:srgbClr val="444C5A"/>
                </a:solidFill>
                <a:latin typeface="Calibri"/>
              </a:rPr>
              <a:t>NMF: concordance</a:t>
            </a:r>
            <a:r>
              <a:rPr lang="en-US" dirty="0">
                <a:solidFill>
                  <a:srgbClr val="444C5A"/>
                </a:solidFill>
                <a:latin typeface="Calibri"/>
              </a:rPr>
              <a:t> mostly</a:t>
            </a:r>
            <a:r>
              <a:rPr dirty="0">
                <a:solidFill>
                  <a:srgbClr val="444C5A"/>
                </a:solidFill>
                <a:latin typeface="Calibri"/>
              </a:rPr>
              <a:t> increases </a:t>
            </a:r>
            <a:r>
              <a:rPr lang="en-US" dirty="0">
                <a:solidFill>
                  <a:srgbClr val="444C5A"/>
                </a:solidFill>
                <a:latin typeface="Calibri"/>
              </a:rPr>
              <a:t>with k</a:t>
            </a:r>
            <a:br>
              <a:rPr dirty="0">
                <a:solidFill>
                  <a:srgbClr val="444C5A"/>
                </a:solidFill>
                <a:latin typeface="Calibri"/>
              </a:rPr>
            </a:br>
            <a:r>
              <a:rPr dirty="0">
                <a:solidFill>
                  <a:srgbClr val="444C5A"/>
                </a:solidFill>
                <a:latin typeface="Calibri"/>
              </a:rPr>
              <a:t>→ needs </a:t>
            </a:r>
            <a:r>
              <a:rPr lang="en-US" dirty="0">
                <a:solidFill>
                  <a:srgbClr val="444C5A"/>
                </a:solidFill>
                <a:latin typeface="Calibri"/>
              </a:rPr>
              <a:t>large k</a:t>
            </a:r>
            <a:r>
              <a:rPr dirty="0">
                <a:solidFill>
                  <a:srgbClr val="444C5A"/>
                </a:solidFill>
                <a:latin typeface="Calibri"/>
              </a:rPr>
              <a:t> to approach </a:t>
            </a:r>
            <a:r>
              <a:rPr dirty="0" err="1">
                <a:solidFill>
                  <a:srgbClr val="444C5A"/>
                </a:solidFill>
                <a:latin typeface="Calibri"/>
              </a:rPr>
              <a:t>DeSurv</a:t>
            </a:r>
            <a:r>
              <a:rPr lang="en-US" dirty="0">
                <a:solidFill>
                  <a:srgbClr val="444C5A"/>
                </a:solidFill>
                <a:latin typeface="Calibri"/>
              </a:rPr>
              <a:t> performance</a:t>
            </a:r>
            <a:endParaRPr dirty="0">
              <a:solidFill>
                <a:srgbClr val="444C5A"/>
              </a:solidFill>
              <a:latin typeface="Calibri"/>
            </a:endParaRPr>
          </a:p>
        </p:txBody>
      </p:sp>
      <p:pic>
        <p:nvPicPr>
          <p:cNvPr id="25" name="Picture 24" descr="A graph showing the results of a graph&#10;&#10;AI-generated content may be incorrect.">
            <a:extLst>
              <a:ext uri="{FF2B5EF4-FFF2-40B4-BE49-F238E27FC236}">
                <a16:creationId xmlns:a16="http://schemas.microsoft.com/office/drawing/2014/main" id="{3953AC8B-60E6-C332-652A-AD13B13E14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5456" y="2629952"/>
            <a:ext cx="6137911" cy="34501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98FDB8-D190-8635-2CF8-3A22F5306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 dirty="0">
                <a:solidFill>
                  <a:srgbClr val="FFFFFF"/>
                </a:solidFill>
                <a:latin typeface="Calibri"/>
              </a:rPr>
              <a:t>Summary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671D1C9-BFD8-8102-6313-186C46563B9E}"/>
              </a:ext>
            </a:extLst>
          </p:cNvPr>
          <p:cNvGrpSpPr/>
          <p:nvPr/>
        </p:nvGrpSpPr>
        <p:grpSpPr>
          <a:xfrm>
            <a:off x="320040" y="1143000"/>
            <a:ext cx="3611880" cy="2606040"/>
            <a:chOff x="320040" y="1143000"/>
            <a:chExt cx="3611880" cy="2606040"/>
          </a:xfrm>
        </p:grpSpPr>
        <p:sp>
          <p:nvSpPr>
            <p:cNvPr id="5" name="Rectangle 4"/>
            <p:cNvSpPr/>
            <p:nvPr/>
          </p:nvSpPr>
          <p:spPr>
            <a:xfrm>
              <a:off x="320040" y="1143000"/>
              <a:ext cx="3611880" cy="2606040"/>
            </a:xfrm>
            <a:prstGeom prst="rect">
              <a:avLst/>
            </a:prstGeom>
            <a:solidFill>
              <a:srgbClr val="1E3D6A"/>
            </a:solidFill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57200" y="1234440"/>
              <a:ext cx="33832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b="1" i="0" dirty="0">
                  <a:solidFill>
                    <a:schemeClr val="accent3"/>
                  </a:solidFill>
                  <a:latin typeface="Calibri"/>
                </a:rPr>
                <a:t>Methodological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/>
                <p:cNvSpPr txBox="1"/>
                <p:nvPr/>
              </p:nvSpPr>
              <p:spPr>
                <a:xfrm>
                  <a:off x="379476" y="1618488"/>
                  <a:ext cx="3474720" cy="203132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342900" indent="-228600">
                    <a:buChar char="•"/>
                  </a:pPr>
                  <a:r>
                    <a:rPr dirty="0" err="1">
                      <a:solidFill>
                        <a:srgbClr val="CCDDFF"/>
                      </a:solidFill>
                      <a:latin typeface="Calibri"/>
                    </a:rPr>
                    <a:t>DeSurv</a:t>
                  </a:r>
                  <a:r>
                    <a:rPr dirty="0">
                      <a:solidFill>
                        <a:srgbClr val="CCDDFF"/>
                      </a:solidFill>
                      <a:latin typeface="Calibri"/>
                    </a:rPr>
                    <a:t> = NMF + Cox, joint optimization</a:t>
                  </a:r>
                </a:p>
                <a:p>
                  <a:pPr marL="342900" indent="-228600">
                    <a:buChar char="•"/>
                  </a:pPr>
                  <a:r>
                    <a:rPr dirty="0">
                      <a:solidFill>
                        <a:srgbClr val="CCDDFF"/>
                      </a:solidFill>
                      <a:latin typeface="Calibri"/>
                    </a:rPr>
                    <a:t>Survival gradient on W, not H</a:t>
                  </a:r>
                  <a:br>
                    <a:rPr dirty="0">
                      <a:solidFill>
                        <a:srgbClr val="CCDDFF"/>
                      </a:solidFill>
                      <a:latin typeface="Calibri"/>
                    </a:rPr>
                  </a:br>
                  <a:r>
                    <a:rPr dirty="0">
                      <a:solidFill>
                        <a:srgbClr val="CCDDFF"/>
                      </a:solidFill>
                      <a:latin typeface="Calibri"/>
                    </a:rPr>
                    <a:t>→ </a:t>
                  </a:r>
                  <a:r>
                    <a:rPr lang="en-US" dirty="0">
                      <a:solidFill>
                        <a:srgbClr val="CCDDFF"/>
                      </a:solidFill>
                      <a:latin typeface="Calibri"/>
                    </a:rPr>
                    <a:t>survival influences programs directly</a:t>
                  </a:r>
                </a:p>
                <a:p>
                  <a:pPr marL="342900" indent="-228600">
                    <a:buChar char="•"/>
                  </a:pPr>
                  <a:r>
                    <a:rPr dirty="0">
                      <a:solidFill>
                        <a:srgbClr val="CCDDFF"/>
                      </a:solidFill>
                      <a:latin typeface="Calibri"/>
                    </a:rPr>
                    <a:t>Projection scoring: Z = W̃ᵀ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i="1" dirty="0" smtClean="0">
                              <a:solidFill>
                                <a:srgbClr val="CCDD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 smtClean="0">
                              <a:solidFill>
                                <a:srgbClr val="CCDDFF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 dirty="0" smtClean="0">
                              <a:solidFill>
                                <a:srgbClr val="CCDDFF"/>
                              </a:solidFill>
                              <a:latin typeface="Cambria Math" panose="02040503050406030204" pitchFamily="18" charset="0"/>
                            </a:rPr>
                            <m:t>𝑛𝑒𝑤</m:t>
                          </m:r>
                        </m:sub>
                      </m:sSub>
                    </m:oMath>
                  </a14:m>
                  <a:endParaRPr dirty="0">
                    <a:solidFill>
                      <a:srgbClr val="CCDDFF"/>
                    </a:solidFill>
                    <a:latin typeface="Calibri"/>
                  </a:endParaRPr>
                </a:p>
                <a:p>
                  <a:pPr marL="342900" indent="-228600">
                    <a:buChar char="•"/>
                  </a:pPr>
                  <a:r>
                    <a:rPr dirty="0">
                      <a:solidFill>
                        <a:srgbClr val="CCDDFF"/>
                      </a:solidFill>
                      <a:latin typeface="Calibri"/>
                    </a:rPr>
                    <a:t>α = 0 recovers standard NMF</a:t>
                  </a:r>
                </a:p>
              </p:txBody>
            </p:sp>
          </mc:Choice>
          <mc:Fallback xmlns="">
            <p:sp>
              <p:nvSpPr>
                <p:cNvPr id="7" name="TextBox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9476" y="1618488"/>
                  <a:ext cx="3474720" cy="2031325"/>
                </a:xfrm>
                <a:prstGeom prst="rect">
                  <a:avLst/>
                </a:prstGeom>
                <a:blipFill>
                  <a:blip r:embed="rId2"/>
                  <a:stretch>
                    <a:fillRect t="-1802" r="-1930" b="-360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21E52AF-582B-29DE-7930-5588DC88FA3B}"/>
              </a:ext>
            </a:extLst>
          </p:cNvPr>
          <p:cNvGrpSpPr/>
          <p:nvPr/>
        </p:nvGrpSpPr>
        <p:grpSpPr>
          <a:xfrm>
            <a:off x="4096512" y="1143000"/>
            <a:ext cx="3611880" cy="2606040"/>
            <a:chOff x="4096512" y="1143000"/>
            <a:chExt cx="3611880" cy="2606040"/>
          </a:xfrm>
        </p:grpSpPr>
        <p:sp>
          <p:nvSpPr>
            <p:cNvPr id="8" name="Rectangle 7"/>
            <p:cNvSpPr/>
            <p:nvPr/>
          </p:nvSpPr>
          <p:spPr>
            <a:xfrm>
              <a:off x="4096512" y="1143000"/>
              <a:ext cx="3611880" cy="2606040"/>
            </a:xfrm>
            <a:prstGeom prst="rect">
              <a:avLst/>
            </a:prstGeom>
            <a:solidFill>
              <a:srgbClr val="1E3D6A"/>
            </a:solidFill>
            <a:ln>
              <a:solidFill>
                <a:srgbClr val="E07B1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233672" y="1234440"/>
              <a:ext cx="33832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b="1" i="0" dirty="0">
                  <a:solidFill>
                    <a:srgbClr val="E07B1C"/>
                  </a:solidFill>
                  <a:latin typeface="Calibri"/>
                </a:rPr>
                <a:t>Empirical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096512" y="1618488"/>
              <a:ext cx="3611880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228600">
                <a:buChar char="•"/>
              </a:pPr>
              <a:r>
                <a:rPr dirty="0">
                  <a:solidFill>
                    <a:srgbClr val="CCDDFF"/>
                  </a:solidFill>
                  <a:latin typeface="Calibri"/>
                </a:rPr>
                <a:t>Simulations: advantage when </a:t>
              </a:r>
              <a:r>
                <a:rPr lang="en-US" dirty="0">
                  <a:solidFill>
                    <a:srgbClr val="CCDDFF"/>
                  </a:solidFill>
                  <a:latin typeface="Calibri"/>
                </a:rPr>
                <a:t>dominant programs</a:t>
              </a:r>
              <a:r>
                <a:rPr dirty="0">
                  <a:solidFill>
                    <a:srgbClr val="CCDDFF"/>
                  </a:solidFill>
                  <a:latin typeface="Calibri"/>
                </a:rPr>
                <a:t> ≠ prognosis</a:t>
              </a:r>
              <a:endParaRPr lang="en-US" dirty="0">
                <a:solidFill>
                  <a:srgbClr val="CCDDFF"/>
                </a:solidFill>
                <a:latin typeface="Calibri"/>
              </a:endParaRPr>
            </a:p>
            <a:p>
              <a:pPr marL="342900" indent="-228600">
                <a:buChar char="•"/>
              </a:pPr>
              <a:r>
                <a:rPr lang="en-US" dirty="0" err="1">
                  <a:solidFill>
                    <a:srgbClr val="CCDDFF"/>
                  </a:solidFill>
                  <a:latin typeface="Calibri"/>
                </a:rPr>
                <a:t>DeSurv</a:t>
              </a:r>
              <a:r>
                <a:rPr lang="en-US" dirty="0">
                  <a:solidFill>
                    <a:srgbClr val="CCDDFF"/>
                  </a:solidFill>
                  <a:latin typeface="Calibri"/>
                </a:rPr>
                <a:t> programs generalize across 5 independent cohorts</a:t>
              </a:r>
              <a:endParaRPr dirty="0">
                <a:solidFill>
                  <a:srgbClr val="CCDDFF"/>
                </a:solidFill>
                <a:latin typeface="Calibri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F74782E-FC9B-C05E-6F86-2303C4355997}"/>
              </a:ext>
            </a:extLst>
          </p:cNvPr>
          <p:cNvGrpSpPr/>
          <p:nvPr/>
        </p:nvGrpSpPr>
        <p:grpSpPr>
          <a:xfrm>
            <a:off x="7872984" y="1143000"/>
            <a:ext cx="3611880" cy="2606040"/>
            <a:chOff x="7872984" y="1143000"/>
            <a:chExt cx="3611880" cy="2606040"/>
          </a:xfrm>
        </p:grpSpPr>
        <p:sp>
          <p:nvSpPr>
            <p:cNvPr id="11" name="Rectangle 10"/>
            <p:cNvSpPr/>
            <p:nvPr/>
          </p:nvSpPr>
          <p:spPr>
            <a:xfrm>
              <a:off x="7872984" y="1143000"/>
              <a:ext cx="3611880" cy="2606040"/>
            </a:xfrm>
            <a:prstGeom prst="rect">
              <a:avLst/>
            </a:prstGeom>
            <a:solidFill>
              <a:srgbClr val="1E3D6A"/>
            </a:solidFill>
            <a:ln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010144" y="1234440"/>
              <a:ext cx="338328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b="1" i="0">
                  <a:solidFill>
                    <a:srgbClr val="FFFFFF"/>
                  </a:solidFill>
                  <a:latin typeface="Calibri"/>
                </a:rPr>
                <a:t>Biological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872984" y="1618488"/>
              <a:ext cx="3611880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228600">
                <a:buChar char="•"/>
              </a:pPr>
              <a:r>
                <a:rPr dirty="0">
                  <a:solidFill>
                    <a:srgbClr val="CCDDFF"/>
                  </a:solidFill>
                  <a:latin typeface="Calibri"/>
                </a:rPr>
                <a:t>D1 = classical tumor + </a:t>
              </a:r>
              <a:r>
                <a:rPr dirty="0" err="1">
                  <a:solidFill>
                    <a:srgbClr val="CCDDFF"/>
                  </a:solidFill>
                  <a:latin typeface="Calibri"/>
                </a:rPr>
                <a:t>restCAF</a:t>
              </a:r>
              <a:r>
                <a:rPr dirty="0">
                  <a:solidFill>
                    <a:srgbClr val="CCDDFF"/>
                  </a:solidFill>
                  <a:latin typeface="Calibri"/>
                </a:rPr>
                <a:t> stroma coupling</a:t>
              </a:r>
            </a:p>
            <a:p>
              <a:pPr marL="342900" indent="-228600">
                <a:buChar char="•"/>
              </a:pPr>
              <a:r>
                <a:rPr dirty="0">
                  <a:solidFill>
                    <a:srgbClr val="CCDDFF"/>
                  </a:solidFill>
                  <a:latin typeface="Calibri"/>
                </a:rPr>
                <a:t>NMF N2 = exocrine purity signal (not prognostic)</a:t>
              </a:r>
            </a:p>
            <a:p>
              <a:pPr marL="342900" indent="-228600">
                <a:buChar char="•"/>
              </a:pPr>
              <a:r>
                <a:rPr dirty="0">
                  <a:solidFill>
                    <a:srgbClr val="CCDDFF"/>
                  </a:solidFill>
                  <a:latin typeface="Calibri"/>
                </a:rPr>
                <a:t>Tumor purity dominates variance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D3A2EAF-A03A-8763-7DAF-5F8BB7F6FAFD}"/>
              </a:ext>
            </a:extLst>
          </p:cNvPr>
          <p:cNvGrpSpPr/>
          <p:nvPr/>
        </p:nvGrpSpPr>
        <p:grpSpPr>
          <a:xfrm>
            <a:off x="320040" y="3886200"/>
            <a:ext cx="11567160" cy="822960"/>
            <a:chOff x="320040" y="3886200"/>
            <a:chExt cx="11567160" cy="822960"/>
          </a:xfrm>
        </p:grpSpPr>
        <p:sp>
          <p:nvSpPr>
            <p:cNvPr id="14" name="Rectangle 13"/>
            <p:cNvSpPr/>
            <p:nvPr/>
          </p:nvSpPr>
          <p:spPr>
            <a:xfrm>
              <a:off x="320040" y="3886200"/>
              <a:ext cx="11567160" cy="822960"/>
            </a:xfrm>
            <a:prstGeom prst="rect">
              <a:avLst/>
            </a:prstGeom>
            <a:solidFill>
              <a:srgbClr val="007A7C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57200" y="3950208"/>
              <a:ext cx="11338560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b="1" i="0" dirty="0">
                  <a:solidFill>
                    <a:srgbClr val="FFFFFF"/>
                  </a:solidFill>
                  <a:latin typeface="Calibri"/>
                </a:rPr>
                <a:t>Aligning the factorization objective with the clinical question—during discovery, not just evaluation—
yields more transportable prognostic signatures with fewer, biologically interpretable factors.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614155AB-7447-AE64-DF92-AFB0B64F0A37}"/>
              </a:ext>
            </a:extLst>
          </p:cNvPr>
          <p:cNvGrpSpPr/>
          <p:nvPr/>
        </p:nvGrpSpPr>
        <p:grpSpPr>
          <a:xfrm>
            <a:off x="320040" y="4846320"/>
            <a:ext cx="10060018" cy="1121819"/>
            <a:chOff x="320040" y="4846320"/>
            <a:chExt cx="11567160" cy="1533299"/>
          </a:xfrm>
        </p:grpSpPr>
        <p:sp>
          <p:nvSpPr>
            <p:cNvPr id="16" name="Rectangle 15"/>
            <p:cNvSpPr/>
            <p:nvPr/>
          </p:nvSpPr>
          <p:spPr>
            <a:xfrm>
              <a:off x="320040" y="4846320"/>
              <a:ext cx="11567160" cy="1533299"/>
            </a:xfrm>
            <a:prstGeom prst="rect">
              <a:avLst/>
            </a:prstGeom>
            <a:solidFill>
              <a:srgbClr val="FFF8E1"/>
            </a:solidFill>
            <a:ln>
              <a:solidFill>
                <a:srgbClr val="F5C51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29768" y="4937760"/>
              <a:ext cx="1134770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en-US" b="1" i="0" dirty="0">
                  <a:solidFill>
                    <a:srgbClr val="7B5B00"/>
                  </a:solidFill>
                  <a:latin typeface="Calibri"/>
                </a:rPr>
                <a:t>Extensions to single-cell</a:t>
              </a:r>
              <a:endParaRPr b="1" i="0" dirty="0">
                <a:solidFill>
                  <a:srgbClr val="7B5B00"/>
                </a:solidFill>
                <a:latin typeface="Calibri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29768" y="5438072"/>
              <a:ext cx="11347704" cy="8834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b="0" i="0" dirty="0">
                  <a:solidFill>
                    <a:srgbClr val="444C5A"/>
                  </a:solidFill>
                  <a:latin typeface="Calibri"/>
                </a:rPr>
                <a:t>NMF often used in </a:t>
              </a:r>
              <a:r>
                <a:rPr lang="en-US" b="0" i="0" dirty="0" err="1">
                  <a:solidFill>
                    <a:srgbClr val="444C5A"/>
                  </a:solidFill>
                  <a:latin typeface="Calibri"/>
                </a:rPr>
                <a:t>scRNA</a:t>
              </a:r>
              <a:r>
                <a:rPr lang="en-US" b="0" i="0" dirty="0">
                  <a:solidFill>
                    <a:srgbClr val="444C5A"/>
                  </a:solidFill>
                  <a:latin typeface="Calibri"/>
                </a:rPr>
                <a:t>-seq to understand cell states</a:t>
              </a:r>
            </a:p>
            <a:p>
              <a:pPr marL="285750" indent="-285750" algn="l">
                <a:buFont typeface="Arial" panose="020B0604020202020204" pitchFamily="34" charset="0"/>
                <a:buChar char="•"/>
              </a:pPr>
              <a:r>
                <a:rPr lang="en-US" dirty="0">
                  <a:solidFill>
                    <a:srgbClr val="444C5A"/>
                  </a:solidFill>
                  <a:latin typeface="Calibri"/>
                </a:rPr>
                <a:t>As annotated cohort sizes increase for this technology, this represents a natural extension for </a:t>
              </a:r>
              <a:r>
                <a:rPr lang="en-US" dirty="0" err="1">
                  <a:solidFill>
                    <a:srgbClr val="444C5A"/>
                  </a:solidFill>
                  <a:latin typeface="Calibri"/>
                </a:rPr>
                <a:t>DeSurv</a:t>
              </a:r>
              <a:endParaRPr b="0" i="0" dirty="0">
                <a:solidFill>
                  <a:srgbClr val="444C5A"/>
                </a:solidFill>
                <a:latin typeface="Calibri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118872" y="6027522"/>
            <a:ext cx="115671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i="1" dirty="0">
                <a:solidFill>
                  <a:schemeClr val="accent3">
                    <a:lumMod val="50000"/>
                  </a:schemeClr>
                </a:solidFill>
                <a:latin typeface="Calibri"/>
              </a:rPr>
              <a:t>R package: github.com/ayoung31/</a:t>
            </a:r>
            <a:r>
              <a:rPr b="0" i="1" dirty="0" err="1">
                <a:solidFill>
                  <a:schemeClr val="accent3">
                    <a:lumMod val="50000"/>
                  </a:schemeClr>
                </a:solidFill>
                <a:latin typeface="Calibri"/>
              </a:rPr>
              <a:t>DeSurv</a:t>
            </a:r>
            <a:r>
              <a:rPr b="0" i="1" dirty="0">
                <a:solidFill>
                  <a:schemeClr val="accent3">
                    <a:lumMod val="50000"/>
                  </a:schemeClr>
                </a:solidFill>
                <a:latin typeface="Calibri"/>
              </a:rPr>
              <a:t>  |  Paper code: github.com/ayoung31/</a:t>
            </a:r>
            <a:r>
              <a:rPr b="0" i="1" dirty="0" err="1">
                <a:solidFill>
                  <a:schemeClr val="accent3">
                    <a:lumMod val="50000"/>
                  </a:schemeClr>
                </a:solidFill>
                <a:latin typeface="Calibri"/>
              </a:rPr>
              <a:t>DeSurv</a:t>
            </a:r>
            <a:r>
              <a:rPr b="0" i="1" dirty="0">
                <a:solidFill>
                  <a:schemeClr val="accent3">
                    <a:lumMod val="50000"/>
                  </a:schemeClr>
                </a:solidFill>
                <a:latin typeface="Calibri"/>
              </a:rPr>
              <a:t>-paper</a:t>
            </a:r>
          </a:p>
        </p:txBody>
      </p:sp>
      <p:pic>
        <p:nvPicPr>
          <p:cNvPr id="25" name="Picture 24" descr="A hexagon with a graphic&#10;&#10;AI-generated content may be incorrect.">
            <a:extLst>
              <a:ext uri="{FF2B5EF4-FFF2-40B4-BE49-F238E27FC236}">
                <a16:creationId xmlns:a16="http://schemas.microsoft.com/office/drawing/2014/main" id="{D4C47851-2FDE-DA9E-A725-4FDCDAB8E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5926" y="4846320"/>
            <a:ext cx="1433990" cy="1655064"/>
          </a:xfrm>
          <a:prstGeom prst="rect">
            <a:avLst/>
          </a:prstGeom>
        </p:spPr>
      </p:pic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038F5827-3AAB-A882-A9FB-A2B5583B2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5">
            <a:extLst>
              <a:ext uri="{FF2B5EF4-FFF2-40B4-BE49-F238E27FC236}">
                <a16:creationId xmlns:a16="http://schemas.microsoft.com/office/drawing/2014/main" id="{5C82B5B7-D4BD-9E23-932B-08710E16CB48}"/>
              </a:ext>
            </a:extLst>
          </p:cNvPr>
          <p:cNvSpPr txBox="1">
            <a:spLocks/>
          </p:cNvSpPr>
          <p:nvPr/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2400" b="1" u="sng"/>
              <a:t>Biostatistics UNC: </a:t>
            </a:r>
          </a:p>
          <a:p>
            <a:r>
              <a:rPr lang="en-US" sz="2400"/>
              <a:t>Dr. Naim Rashid (Advisor)</a:t>
            </a:r>
          </a:p>
          <a:p>
            <a:r>
              <a:rPr lang="en-US" sz="2400"/>
              <a:t>Dr. Didong Li (Advisor)</a:t>
            </a:r>
          </a:p>
          <a:p>
            <a:pPr marL="0" indent="0">
              <a:buFont typeface="Arial"/>
              <a:buNone/>
            </a:pPr>
            <a:endParaRPr lang="en-US" sz="1200"/>
          </a:p>
          <a:p>
            <a:pPr marL="0" indent="0">
              <a:buFont typeface="Arial"/>
              <a:buNone/>
            </a:pPr>
            <a:r>
              <a:rPr lang="en-US" sz="2400" b="1" u="sng"/>
              <a:t>Yeh Lab:</a:t>
            </a:r>
          </a:p>
          <a:p>
            <a:r>
              <a:rPr lang="en-US" sz="2400"/>
              <a:t>Dr. Jen Jen Yeh</a:t>
            </a:r>
          </a:p>
          <a:p>
            <a:r>
              <a:rPr lang="en-US" sz="2400"/>
              <a:t>Dr. Laura Peng</a:t>
            </a:r>
          </a:p>
          <a:p>
            <a:pPr marL="0" indent="0">
              <a:buFont typeface="Arial"/>
              <a:buNone/>
            </a:pPr>
            <a:endParaRPr lang="en-US" sz="1200"/>
          </a:p>
          <a:p>
            <a:pPr marL="0" indent="0">
              <a:buFont typeface="Arial"/>
              <a:buNone/>
            </a:pPr>
            <a:r>
              <a:rPr lang="en-US" sz="2400" b="1" u="sng"/>
              <a:t>Stony Brook: </a:t>
            </a:r>
          </a:p>
          <a:p>
            <a:r>
              <a:rPr lang="en-US" sz="2400"/>
              <a:t>Dr. Alisa Yurovsky</a:t>
            </a:r>
          </a:p>
          <a:p>
            <a:pPr marL="0" indent="0">
              <a:buFont typeface="Arial"/>
              <a:buNone/>
            </a:pPr>
            <a:endParaRPr lang="en-US" sz="2400"/>
          </a:p>
          <a:p>
            <a:endParaRPr lang="en-US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64CD3D-B1BE-906A-07B8-B6518B534ED5}"/>
              </a:ext>
            </a:extLst>
          </p:cNvPr>
          <p:cNvSpPr txBox="1"/>
          <p:nvPr/>
        </p:nvSpPr>
        <p:spPr>
          <a:xfrm>
            <a:off x="9291565" y="4598549"/>
            <a:ext cx="211468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u="sng" dirty="0"/>
              <a:t>Funding:</a:t>
            </a:r>
            <a:endParaRPr lang="es-ES" dirty="0"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ea typeface="Arial" panose="020B0604020202020204" pitchFamily="34" charset="0"/>
                <a:cs typeface="Times New Roman" panose="02020603050405020304" pitchFamily="18" charset="0"/>
              </a:rPr>
              <a:t>U01 CA274298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P50 CA257911 </a:t>
            </a:r>
            <a:endParaRPr lang="es-ES" dirty="0">
              <a:latin typeface="Arial" panose="020B0604020202020204" pitchFamily="34" charset="0"/>
              <a:ea typeface="Arial" panose="020B060402020202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T32 CA106209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2C3107-428E-9633-AD8A-7526AC5AD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0822" y="3283045"/>
            <a:ext cx="1109482" cy="108764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B739C1-C533-D574-199B-3567F33191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0822" y="1722284"/>
            <a:ext cx="1102202" cy="11094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8885F7-B590-95DB-B105-2CD894B2D07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790822" y="4793392"/>
            <a:ext cx="1087643" cy="1087643"/>
          </a:xfrm>
          <a:prstGeom prst="ellipse">
            <a:avLst/>
          </a:prstGeom>
        </p:spPr>
      </p:pic>
      <p:pic>
        <p:nvPicPr>
          <p:cNvPr id="7" name="Picture 6" descr="Laura Peng, PhD">
            <a:extLst>
              <a:ext uri="{FF2B5EF4-FFF2-40B4-BE49-F238E27FC236}">
                <a16:creationId xmlns:a16="http://schemas.microsoft.com/office/drawing/2014/main" id="{8583E5B8-E97E-ED5B-7D81-A9AAE917FD1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158" t="4142" r="719" b="16189"/>
          <a:stretch>
            <a:fillRect/>
          </a:stretch>
        </p:blipFill>
        <p:spPr>
          <a:xfrm>
            <a:off x="6267991" y="3278406"/>
            <a:ext cx="1104918" cy="1078996"/>
          </a:xfrm>
          <a:prstGeom prst="ellipse">
            <a:avLst/>
          </a:prstGeom>
        </p:spPr>
      </p:pic>
      <p:pic>
        <p:nvPicPr>
          <p:cNvPr id="8" name="Picture 7" descr="Didong Li, PhD">
            <a:extLst>
              <a:ext uri="{FF2B5EF4-FFF2-40B4-BE49-F238E27FC236}">
                <a16:creationId xmlns:a16="http://schemas.microsoft.com/office/drawing/2014/main" id="{A7765A9F-9DA5-36B0-FE0A-B24F8F978FF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9797" y="1729271"/>
            <a:ext cx="1121190" cy="1124503"/>
          </a:xfrm>
          <a:prstGeom prst="ellipse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3316C64-8EA6-90F1-B296-428B63B21B8A}"/>
              </a:ext>
            </a:extLst>
          </p:cNvPr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7A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2496B2-CE3F-FFA3-B20E-E055347120DA}"/>
              </a:ext>
            </a:extLst>
          </p:cNvPr>
          <p:cNvSpPr txBox="1"/>
          <p:nvPr/>
        </p:nvSpPr>
        <p:spPr>
          <a:xfrm>
            <a:off x="320040" y="109728"/>
            <a:ext cx="11521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dirty="0">
                <a:solidFill>
                  <a:srgbClr val="FFFFFF"/>
                </a:solidFill>
                <a:latin typeface="Calibri"/>
              </a:rPr>
              <a:t>Acknowledgements</a:t>
            </a:r>
            <a:endParaRPr sz="28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DCAD3AE-0A7A-0BB2-AB0A-1A48F3CB4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83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CCD0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1B355E"/>
                </a:solidFill>
                <a:latin typeface="Calibri"/>
              </a:rPr>
              <a:t>BACKUP SLIDES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601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44C5A"/>
                </a:solidFill>
                <a:latin typeface="Calibri"/>
              </a:rPr>
              <a:t>Supplementary material and additional details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DCA5B-15C3-502F-C994-6610F0EB6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Algorithm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dirty="0">
                <a:solidFill>
                  <a:srgbClr val="CCD0D8"/>
                </a:solidFill>
                <a:latin typeface="Calibri"/>
              </a:rPr>
              <a:t>Alternating optimization — converges to stationary point under mild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98448"/>
            <a:ext cx="112471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228600">
              <a:buChar char="•"/>
            </a:pPr>
            <a:r>
              <a:rPr sz="2000" dirty="0">
                <a:solidFill>
                  <a:srgbClr val="444C5A"/>
                </a:solidFill>
                <a:latin typeface="Calibri"/>
              </a:rPr>
              <a:t>Initialize W, H using consensus across multiple random starts</a:t>
            </a:r>
          </a:p>
          <a:p>
            <a:pPr marL="342900" indent="-228600">
              <a:buChar char="•"/>
            </a:pPr>
            <a:r>
              <a:rPr sz="2000" dirty="0">
                <a:solidFill>
                  <a:srgbClr val="444C5A"/>
                </a:solidFill>
                <a:latin typeface="Calibri"/>
              </a:rPr>
              <a:t>Alternating updates:</a:t>
            </a:r>
          </a:p>
          <a:p>
            <a:pPr marL="685800" indent="-228600">
              <a:buChar char="–"/>
            </a:pPr>
            <a:r>
              <a:rPr sz="2000" dirty="0">
                <a:solidFill>
                  <a:srgbClr val="444C5A"/>
                </a:solidFill>
                <a:latin typeface="Calibri"/>
              </a:rPr>
              <a:t>Update H: fix W, β → minimize ℒ_NMF  (ℓ₂ penalty)</a:t>
            </a:r>
          </a:p>
          <a:p>
            <a:pPr marL="685800" indent="-228600">
              <a:buChar char="–"/>
            </a:pPr>
            <a:r>
              <a:rPr sz="2000" dirty="0">
                <a:solidFill>
                  <a:srgbClr val="444C5A"/>
                </a:solidFill>
                <a:latin typeface="Calibri"/>
              </a:rPr>
              <a:t>Update W: fix H, β → minimize joint objective  (survival gradient here)</a:t>
            </a:r>
          </a:p>
          <a:p>
            <a:pPr marL="685800" indent="-228600">
              <a:buChar char="–"/>
            </a:pPr>
            <a:r>
              <a:rPr sz="2000" dirty="0">
                <a:solidFill>
                  <a:srgbClr val="444C5A"/>
                </a:solidFill>
                <a:latin typeface="Calibri"/>
              </a:rPr>
              <a:t>Update β: fix W, H → maximize </a:t>
            </a:r>
            <a:r>
              <a:rPr sz="2000" dirty="0" err="1">
                <a:solidFill>
                  <a:srgbClr val="444C5A"/>
                </a:solidFill>
                <a:latin typeface="Calibri"/>
              </a:rPr>
              <a:t>ℒ_Cox</a:t>
            </a:r>
            <a:r>
              <a:rPr sz="2000" dirty="0">
                <a:solidFill>
                  <a:srgbClr val="444C5A"/>
                </a:solidFill>
                <a:latin typeface="Calibri"/>
              </a:rPr>
              <a:t>  (elastic-net penalized Cox)</a:t>
            </a:r>
          </a:p>
          <a:p>
            <a:pPr marL="685800" indent="-228600">
              <a:buChar char="–"/>
            </a:pPr>
            <a:r>
              <a:rPr sz="2000" dirty="0">
                <a:solidFill>
                  <a:srgbClr val="444C5A"/>
                </a:solidFill>
                <a:latin typeface="Calibri"/>
              </a:rPr>
              <a:t>Repeat until convergence (relative objective change &lt; ε)</a:t>
            </a:r>
          </a:p>
          <a:p>
            <a:pPr marL="342900" indent="-228600">
              <a:buChar char="•"/>
            </a:pPr>
            <a:r>
              <a:rPr sz="2000" dirty="0">
                <a:solidFill>
                  <a:srgbClr val="444C5A"/>
                </a:solidFill>
                <a:latin typeface="Calibri"/>
              </a:rPr>
              <a:t>Multiple initializations → select best by training C-index</a:t>
            </a:r>
          </a:p>
          <a:p>
            <a:pPr marL="342900" indent="-228600">
              <a:buChar char="•"/>
            </a:pPr>
            <a:r>
              <a:rPr sz="2000" dirty="0">
                <a:solidFill>
                  <a:srgbClr val="444C5A"/>
                </a:solidFill>
                <a:latin typeface="Calibri"/>
              </a:rPr>
              <a:t>W truncated to BO-selected </a:t>
            </a:r>
            <a:r>
              <a:rPr sz="2000" dirty="0" err="1">
                <a:solidFill>
                  <a:srgbClr val="444C5A"/>
                </a:solidFill>
                <a:latin typeface="Calibri"/>
              </a:rPr>
              <a:t>n_top</a:t>
            </a:r>
            <a:r>
              <a:rPr sz="2000" dirty="0">
                <a:solidFill>
                  <a:srgbClr val="444C5A"/>
                </a:solidFill>
                <a:latin typeface="Calibri"/>
              </a:rPr>
              <a:t> = 270 genes per factor (PDAC)</a:t>
            </a:r>
          </a:p>
          <a:p>
            <a:pPr marL="342900" indent="-228600">
              <a:buChar char="•"/>
            </a:pPr>
            <a:r>
              <a:rPr sz="2000" dirty="0">
                <a:solidFill>
                  <a:srgbClr val="444C5A"/>
                </a:solidFill>
                <a:latin typeface="Calibri"/>
              </a:rPr>
              <a:t>Convergence: stationary point guaranteed (SI Appendix)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9C277DA-99C0-88A2-C9D5-851227C36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Dataset Details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dirty="0">
                <a:solidFill>
                  <a:srgbClr val="CCD0D8"/>
                </a:solidFill>
                <a:latin typeface="Calibri"/>
              </a:rPr>
              <a:t>Training and external validation cohorts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61872"/>
            <a:ext cx="1463040" cy="566928"/>
          </a:xfrm>
          <a:prstGeom prst="rect">
            <a:avLst/>
          </a:prstGeom>
          <a:solidFill>
            <a:srgbClr val="1B355E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6344" y="1371600"/>
            <a:ext cx="1353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Role</a:t>
            </a:r>
          </a:p>
        </p:txBody>
      </p:sp>
      <p:sp>
        <p:nvSpPr>
          <p:cNvPr id="7" name="Rectangle 6"/>
          <p:cNvSpPr/>
          <p:nvPr/>
        </p:nvSpPr>
        <p:spPr>
          <a:xfrm>
            <a:off x="1874520" y="1261872"/>
            <a:ext cx="2011680" cy="566928"/>
          </a:xfrm>
          <a:prstGeom prst="rect">
            <a:avLst/>
          </a:prstGeom>
          <a:solidFill>
            <a:srgbClr val="1B355E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929384" y="1371600"/>
            <a:ext cx="1901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Cohort</a:t>
            </a:r>
          </a:p>
        </p:txBody>
      </p:sp>
      <p:sp>
        <p:nvSpPr>
          <p:cNvPr id="9" name="Rectangle 8"/>
          <p:cNvSpPr/>
          <p:nvPr/>
        </p:nvSpPr>
        <p:spPr>
          <a:xfrm>
            <a:off x="3886200" y="1261872"/>
            <a:ext cx="1645920" cy="566928"/>
          </a:xfrm>
          <a:prstGeom prst="rect">
            <a:avLst/>
          </a:prstGeom>
          <a:solidFill>
            <a:srgbClr val="1B355E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41064" y="1371600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Platform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32120" y="1261872"/>
            <a:ext cx="914400" cy="566928"/>
          </a:xfrm>
          <a:prstGeom prst="rect">
            <a:avLst/>
          </a:prstGeom>
          <a:solidFill>
            <a:srgbClr val="1B355E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586984" y="1371600"/>
            <a:ext cx="80467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1261872"/>
            <a:ext cx="5212080" cy="566928"/>
          </a:xfrm>
          <a:prstGeom prst="rect">
            <a:avLst/>
          </a:prstGeom>
          <a:solidFill>
            <a:srgbClr val="1B355E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01384" y="1371600"/>
            <a:ext cx="5102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Source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828800"/>
            <a:ext cx="14630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" y="1938528"/>
            <a:ext cx="1353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C5A"/>
                </a:solidFill>
                <a:latin typeface="Calibri"/>
              </a:rPr>
              <a:t>Training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74520" y="1828800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929384" y="1938528"/>
            <a:ext cx="1901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C5A"/>
                </a:solidFill>
                <a:latin typeface="Calibri"/>
              </a:rPr>
              <a:t>TCGA-PAAD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86200" y="1828800"/>
            <a:ext cx="16459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941064" y="1938528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C5A"/>
                </a:solidFill>
                <a:latin typeface="Calibri"/>
              </a:rPr>
              <a:t>RNA-seq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32120" y="1828800"/>
            <a:ext cx="9144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86984" y="1938528"/>
            <a:ext cx="8046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444C5A"/>
                </a:solidFill>
                <a:latin typeface="Calibri"/>
              </a:rPr>
              <a:t>1</a:t>
            </a:r>
            <a:r>
              <a:rPr lang="en-US" sz="1600" b="0" i="0" dirty="0">
                <a:solidFill>
                  <a:srgbClr val="444C5A"/>
                </a:solidFill>
                <a:latin typeface="Calibri"/>
              </a:rPr>
              <a:t>44</a:t>
            </a:r>
            <a:endParaRPr sz="1600" b="0" i="0" dirty="0">
              <a:solidFill>
                <a:srgbClr val="444C5A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446520" y="1828800"/>
            <a:ext cx="52120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01384" y="1938528"/>
            <a:ext cx="5102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C5A"/>
                </a:solidFill>
                <a:latin typeface="Calibri"/>
              </a:rPr>
              <a:t>GDC / TCGA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2395728"/>
            <a:ext cx="1463040" cy="566928"/>
          </a:xfrm>
          <a:prstGeom prst="rect">
            <a:avLst/>
          </a:prstGeom>
          <a:solidFill>
            <a:srgbClr val="F2F4F7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66344" y="2505456"/>
            <a:ext cx="1353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C5A"/>
                </a:solidFill>
                <a:latin typeface="Calibri"/>
              </a:rPr>
              <a:t>Training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74520" y="2395728"/>
            <a:ext cx="2011680" cy="566928"/>
          </a:xfrm>
          <a:prstGeom prst="rect">
            <a:avLst/>
          </a:prstGeom>
          <a:solidFill>
            <a:srgbClr val="F2F4F7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929384" y="2505456"/>
            <a:ext cx="1901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C5A"/>
                </a:solidFill>
                <a:latin typeface="Calibri"/>
              </a:rPr>
              <a:t>CPTAC-3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86200" y="2395728"/>
            <a:ext cx="1645920" cy="566928"/>
          </a:xfrm>
          <a:prstGeom prst="rect">
            <a:avLst/>
          </a:prstGeom>
          <a:solidFill>
            <a:srgbClr val="F2F4F7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941064" y="2505456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C5A"/>
                </a:solidFill>
                <a:latin typeface="Calibri"/>
              </a:rPr>
              <a:t>RNA-seq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32120" y="2395728"/>
            <a:ext cx="914400" cy="566928"/>
          </a:xfrm>
          <a:prstGeom prst="rect">
            <a:avLst/>
          </a:prstGeom>
          <a:solidFill>
            <a:srgbClr val="F2F4F7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586984" y="2505456"/>
            <a:ext cx="8046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444C5A"/>
                </a:solidFill>
                <a:latin typeface="Calibri"/>
              </a:rPr>
              <a:t>1</a:t>
            </a:r>
            <a:r>
              <a:rPr lang="en-US" sz="1600" b="0" i="0" dirty="0">
                <a:solidFill>
                  <a:srgbClr val="444C5A"/>
                </a:solidFill>
                <a:latin typeface="Calibri"/>
              </a:rPr>
              <a:t>29</a:t>
            </a:r>
            <a:endParaRPr sz="1600" b="0" i="0" dirty="0">
              <a:solidFill>
                <a:srgbClr val="444C5A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446520" y="2395728"/>
            <a:ext cx="5212080" cy="566928"/>
          </a:xfrm>
          <a:prstGeom prst="rect">
            <a:avLst/>
          </a:prstGeom>
          <a:solidFill>
            <a:srgbClr val="F2F4F7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01384" y="2505456"/>
            <a:ext cx="5102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C5A"/>
                </a:solidFill>
                <a:latin typeface="Calibri"/>
              </a:rPr>
              <a:t>GDC / CPTAC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2962656"/>
            <a:ext cx="14630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66344" y="3072384"/>
            <a:ext cx="1353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C5A"/>
                </a:solidFill>
                <a:latin typeface="Calibri"/>
              </a:rPr>
              <a:t>Validation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874520" y="2962656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929384" y="3072384"/>
            <a:ext cx="1901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C5A"/>
                </a:solidFill>
                <a:latin typeface="Calibri"/>
              </a:rPr>
              <a:t>Puleo et al.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886200" y="2962656"/>
            <a:ext cx="16459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941064" y="3072384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C5A"/>
                </a:solidFill>
                <a:latin typeface="Calibri"/>
              </a:rPr>
              <a:t>Microarray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532120" y="2962656"/>
            <a:ext cx="9144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586984" y="3072384"/>
            <a:ext cx="8046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444C5A"/>
                </a:solidFill>
                <a:latin typeface="Calibri"/>
              </a:rPr>
              <a:t>288</a:t>
            </a:r>
            <a:endParaRPr sz="1600" b="0" i="0" dirty="0">
              <a:solidFill>
                <a:srgbClr val="444C5A"/>
              </a:solidFill>
              <a:latin typeface="Calibr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446520" y="2962656"/>
            <a:ext cx="52120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01384" y="3072384"/>
            <a:ext cx="5102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C5A"/>
                </a:solidFill>
                <a:latin typeface="Calibri"/>
              </a:rPr>
              <a:t>ArrayExpress E-MTAB-6134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11480" y="3529584"/>
            <a:ext cx="1463040" cy="566928"/>
          </a:xfrm>
          <a:prstGeom prst="rect">
            <a:avLst/>
          </a:prstGeom>
          <a:solidFill>
            <a:srgbClr val="F2F4F7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66344" y="3639312"/>
            <a:ext cx="1353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C5A"/>
                </a:solidFill>
                <a:latin typeface="Calibri"/>
              </a:rPr>
              <a:t>Validation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874520" y="3529584"/>
            <a:ext cx="2011680" cy="566928"/>
          </a:xfrm>
          <a:prstGeom prst="rect">
            <a:avLst/>
          </a:prstGeom>
          <a:solidFill>
            <a:srgbClr val="F2F4F7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929384" y="3639312"/>
            <a:ext cx="1901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C5A"/>
                </a:solidFill>
                <a:latin typeface="Calibri"/>
              </a:rPr>
              <a:t>Moffitt et al.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86200" y="3529584"/>
            <a:ext cx="1645920" cy="566928"/>
          </a:xfrm>
          <a:prstGeom prst="rect">
            <a:avLst/>
          </a:prstGeom>
          <a:solidFill>
            <a:srgbClr val="F2F4F7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941064" y="3639312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C5A"/>
                </a:solidFill>
                <a:latin typeface="Calibri"/>
              </a:rPr>
              <a:t>Microarray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532120" y="3529584"/>
            <a:ext cx="914400" cy="566928"/>
          </a:xfrm>
          <a:prstGeom prst="rect">
            <a:avLst/>
          </a:prstGeom>
          <a:solidFill>
            <a:srgbClr val="F2F4F7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586984" y="3639312"/>
            <a:ext cx="8046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 dirty="0">
                <a:solidFill>
                  <a:srgbClr val="444C5A"/>
                </a:solidFill>
                <a:latin typeface="Calibri"/>
              </a:rPr>
              <a:t>1</a:t>
            </a:r>
            <a:r>
              <a:rPr lang="en-US" sz="1600" b="0" i="0" dirty="0">
                <a:solidFill>
                  <a:srgbClr val="444C5A"/>
                </a:solidFill>
                <a:latin typeface="Calibri"/>
              </a:rPr>
              <a:t>23</a:t>
            </a:r>
            <a:endParaRPr sz="1600" b="0" i="0" dirty="0">
              <a:solidFill>
                <a:srgbClr val="444C5A"/>
              </a:solidFill>
              <a:latin typeface="Calibri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6446520" y="3529584"/>
            <a:ext cx="5212080" cy="566928"/>
          </a:xfrm>
          <a:prstGeom prst="rect">
            <a:avLst/>
          </a:prstGeom>
          <a:solidFill>
            <a:srgbClr val="F2F4F7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501384" y="3639312"/>
            <a:ext cx="5102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C5A"/>
                </a:solidFill>
                <a:latin typeface="Calibri"/>
              </a:rPr>
              <a:t>GEO GSE71729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11480" y="4096512"/>
            <a:ext cx="14630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466344" y="4206240"/>
            <a:ext cx="1353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C5A"/>
                </a:solidFill>
                <a:latin typeface="Calibri"/>
              </a:rPr>
              <a:t>Validation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874520" y="4096512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1929384" y="4206240"/>
            <a:ext cx="1901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C5A"/>
                </a:solidFill>
                <a:latin typeface="Calibri"/>
              </a:rPr>
              <a:t>PACA-AU (array)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86200" y="4096512"/>
            <a:ext cx="16459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941064" y="4206240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C5A"/>
                </a:solidFill>
                <a:latin typeface="Calibri"/>
              </a:rPr>
              <a:t>Microarray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32120" y="4096512"/>
            <a:ext cx="9144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586984" y="4206240"/>
            <a:ext cx="8046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444C5A"/>
                </a:solidFill>
                <a:latin typeface="Calibri"/>
              </a:rPr>
              <a:t>63</a:t>
            </a:r>
            <a:endParaRPr sz="1600" b="0" i="0" dirty="0">
              <a:solidFill>
                <a:srgbClr val="444C5A"/>
              </a:solidFill>
              <a:latin typeface="Calibri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446520" y="4096512"/>
            <a:ext cx="52120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501384" y="4206240"/>
            <a:ext cx="5102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C5A"/>
                </a:solidFill>
                <a:latin typeface="Calibri"/>
              </a:rPr>
              <a:t>ICGC / EGA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11480" y="4663440"/>
            <a:ext cx="1463040" cy="566928"/>
          </a:xfrm>
          <a:prstGeom prst="rect">
            <a:avLst/>
          </a:prstGeom>
          <a:solidFill>
            <a:srgbClr val="F2F4F7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466344" y="4773168"/>
            <a:ext cx="1353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C5A"/>
                </a:solidFill>
                <a:latin typeface="Calibri"/>
              </a:rPr>
              <a:t>Validation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874520" y="4663440"/>
            <a:ext cx="2011680" cy="566928"/>
          </a:xfrm>
          <a:prstGeom prst="rect">
            <a:avLst/>
          </a:prstGeom>
          <a:solidFill>
            <a:srgbClr val="F2F4F7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929384" y="4773168"/>
            <a:ext cx="1901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C5A"/>
                </a:solidFill>
                <a:latin typeface="Calibri"/>
              </a:rPr>
              <a:t>PACA-AU (seq)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886200" y="4663440"/>
            <a:ext cx="1645920" cy="566928"/>
          </a:xfrm>
          <a:prstGeom prst="rect">
            <a:avLst/>
          </a:prstGeom>
          <a:solidFill>
            <a:srgbClr val="F2F4F7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941064" y="4773168"/>
            <a:ext cx="153619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C5A"/>
                </a:solidFill>
                <a:latin typeface="Calibri"/>
              </a:rPr>
              <a:t>RNA-seq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532120" y="4663440"/>
            <a:ext cx="914400" cy="566928"/>
          </a:xfrm>
          <a:prstGeom prst="rect">
            <a:avLst/>
          </a:prstGeom>
          <a:solidFill>
            <a:srgbClr val="F2F4F7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5586984" y="4773168"/>
            <a:ext cx="8046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444C5A"/>
                </a:solidFill>
                <a:latin typeface="Calibri"/>
              </a:rPr>
              <a:t>52</a:t>
            </a:r>
            <a:endParaRPr sz="1600" b="0" i="0" dirty="0">
              <a:solidFill>
                <a:srgbClr val="444C5A"/>
              </a:solidFill>
              <a:latin typeface="Calibri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6446520" y="4663440"/>
            <a:ext cx="5212080" cy="566928"/>
          </a:xfrm>
          <a:prstGeom prst="rect">
            <a:avLst/>
          </a:prstGeom>
          <a:solidFill>
            <a:srgbClr val="F2F4F7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6501384" y="4773168"/>
            <a:ext cx="5102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C5A"/>
                </a:solidFill>
                <a:latin typeface="Calibri"/>
              </a:rPr>
              <a:t>ICGC / EGA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11480" y="5230368"/>
            <a:ext cx="146304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466344" y="5340096"/>
            <a:ext cx="135331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C5A"/>
                </a:solidFill>
                <a:latin typeface="Calibri"/>
              </a:rPr>
              <a:t>Validation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874520" y="5230368"/>
            <a:ext cx="20116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929384" y="5340096"/>
            <a:ext cx="19019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C5A"/>
                </a:solidFill>
                <a:latin typeface="Calibri"/>
              </a:rPr>
              <a:t>Dijk et al.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886200" y="5230368"/>
            <a:ext cx="164592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941064" y="5340096"/>
            <a:ext cx="153619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444C5A"/>
                </a:solidFill>
                <a:latin typeface="Calibri"/>
              </a:rPr>
              <a:t>RNA-seq</a:t>
            </a:r>
            <a:endParaRPr sz="1600" b="0" i="0" dirty="0">
              <a:solidFill>
                <a:srgbClr val="444C5A"/>
              </a:solidFill>
              <a:latin typeface="Calibri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5532120" y="5230368"/>
            <a:ext cx="91440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5586984" y="5340096"/>
            <a:ext cx="80467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600" dirty="0">
                <a:solidFill>
                  <a:srgbClr val="444C5A"/>
                </a:solidFill>
                <a:latin typeface="Calibri"/>
              </a:rPr>
              <a:t>90</a:t>
            </a:r>
            <a:endParaRPr sz="1600" b="0" i="0" dirty="0">
              <a:solidFill>
                <a:srgbClr val="444C5A"/>
              </a:solidFill>
              <a:latin typeface="Calibri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6446520" y="5230368"/>
            <a:ext cx="5212080" cy="566928"/>
          </a:xfrm>
          <a:prstGeom prst="rect">
            <a:avLst/>
          </a:prstGeom>
          <a:solidFill>
            <a:srgbClr val="FFFFFF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501384" y="5340096"/>
            <a:ext cx="51023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C5A"/>
                </a:solidFill>
                <a:latin typeface="Calibri"/>
              </a:rPr>
              <a:t>ArrayExpress E-MTAB-6830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20040" y="6126480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444C5A"/>
                </a:solidFill>
                <a:latin typeface="Calibri"/>
              </a:rPr>
              <a:t>Preprocessing: log₂(TPM+1)  →  within-sample rank transform (preserves nonneg).   Gene selection: top 1,970 genes by mean expression + variance (intersection across training cohorts).</a:t>
            </a:r>
          </a:p>
        </p:txBody>
      </p:sp>
      <p:sp>
        <p:nvSpPr>
          <p:cNvPr id="88" name="Slide Number Placeholder 87">
            <a:extLst>
              <a:ext uri="{FF2B5EF4-FFF2-40B4-BE49-F238E27FC236}">
                <a16:creationId xmlns:a16="http://schemas.microsoft.com/office/drawing/2014/main" id="{265EAD71-841A-BDC7-63EA-4EC7BD609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3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21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W-Matrix Correspondence Between Methods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11521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i="1" dirty="0">
                <a:solidFill>
                  <a:srgbClr val="CCD0D8"/>
                </a:solidFill>
                <a:latin typeface="Calibri"/>
              </a:rPr>
              <a:t>Spearman rank correlation of gene loadings (all genes) between </a:t>
            </a:r>
            <a:r>
              <a:rPr b="0" i="1" dirty="0" err="1">
                <a:solidFill>
                  <a:srgbClr val="CCD0D8"/>
                </a:solidFill>
                <a:latin typeface="Calibri"/>
              </a:rPr>
              <a:t>DeSurv</a:t>
            </a:r>
            <a:r>
              <a:rPr b="0" i="1" dirty="0">
                <a:solidFill>
                  <a:srgbClr val="CCD0D8"/>
                </a:solidFill>
                <a:latin typeface="Calibri"/>
              </a:rPr>
              <a:t> and NMF factors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188720"/>
            <a:ext cx="6035040" cy="5303520"/>
          </a:xfrm>
          <a:prstGeom prst="rect">
            <a:avLst/>
          </a:prstGeom>
          <a:solidFill>
            <a:srgbClr val="F2F4F7"/>
          </a:solidFill>
          <a:ln>
            <a:solidFill>
              <a:srgbClr val="CCD0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37960" y="1188720"/>
            <a:ext cx="5303520" cy="5303520"/>
          </a:xfrm>
          <a:prstGeom prst="rect">
            <a:avLst/>
          </a:prstGeom>
          <a:solidFill>
            <a:srgbClr val="F2F4F7"/>
          </a:solidFill>
          <a:ln>
            <a:solidFill>
              <a:srgbClr val="1B3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6675120" y="1261872"/>
            <a:ext cx="5074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i="0" dirty="0">
                <a:solidFill>
                  <a:srgbClr val="1B355E"/>
                </a:solidFill>
                <a:latin typeface="Calibri"/>
              </a:rPr>
              <a:t>Interpretation: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664208"/>
            <a:ext cx="5074920" cy="4078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228600">
              <a:spcAft>
                <a:spcPts val="600"/>
              </a:spcAft>
              <a:buChar char="•"/>
            </a:pPr>
            <a:r>
              <a:rPr dirty="0">
                <a:solidFill>
                  <a:srgbClr val="444C5A"/>
                </a:solidFill>
                <a:latin typeface="Calibri"/>
              </a:rPr>
              <a:t>N1 (classical) ↔ D3 (basal-like): strong positive correlation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dirty="0">
                <a:solidFill>
                  <a:srgbClr val="444C5A"/>
                </a:solidFill>
                <a:latin typeface="Calibri"/>
              </a:rPr>
              <a:t>N3 (mixed microenvironment) ↔ D2 (</a:t>
            </a:r>
            <a:r>
              <a:rPr dirty="0" err="1">
                <a:solidFill>
                  <a:srgbClr val="444C5A"/>
                </a:solidFill>
                <a:latin typeface="Calibri"/>
              </a:rPr>
              <a:t>proCAF</a:t>
            </a:r>
            <a:r>
              <a:rPr dirty="0">
                <a:solidFill>
                  <a:srgbClr val="444C5A"/>
                </a:solidFill>
                <a:latin typeface="Calibri"/>
              </a:rPr>
              <a:t>): </a:t>
            </a:r>
            <a:r>
              <a:rPr lang="en-US" dirty="0">
                <a:solidFill>
                  <a:srgbClr val="444C5A"/>
                </a:solidFill>
                <a:latin typeface="Calibri"/>
              </a:rPr>
              <a:t>strong positive correlation</a:t>
            </a:r>
            <a:endParaRPr dirty="0">
              <a:solidFill>
                <a:srgbClr val="444C5A"/>
              </a:solidFill>
              <a:latin typeface="Calibri"/>
            </a:endParaRPr>
          </a:p>
          <a:p>
            <a:pPr marL="342900" indent="-228600">
              <a:spcAft>
                <a:spcPts val="600"/>
              </a:spcAft>
              <a:buChar char="•"/>
            </a:pPr>
            <a:r>
              <a:rPr dirty="0">
                <a:solidFill>
                  <a:srgbClr val="444C5A"/>
                </a:solidFill>
                <a:latin typeface="Calibri"/>
              </a:rPr>
              <a:t>D1 (most prognostic): </a:t>
            </a:r>
            <a:r>
              <a:rPr lang="en-US" dirty="0">
                <a:solidFill>
                  <a:srgbClr val="444C5A"/>
                </a:solidFill>
                <a:latin typeface="Calibri"/>
              </a:rPr>
              <a:t>weak, uniform correlation with ALL NMF factors</a:t>
            </a:r>
            <a:endParaRPr dirty="0">
              <a:solidFill>
                <a:srgbClr val="444C5A"/>
              </a:solidFill>
              <a:latin typeface="Calibri"/>
            </a:endParaRPr>
          </a:p>
          <a:p>
            <a:pPr marL="457200">
              <a:spcAft>
                <a:spcPts val="600"/>
              </a:spcAft>
            </a:pPr>
            <a:r>
              <a:rPr dirty="0">
                <a:solidFill>
                  <a:srgbClr val="444C5A"/>
                </a:solidFill>
                <a:latin typeface="Calibri"/>
              </a:rPr>
              <a:t>→ D1's tumor-stroma coupling does not exist in the NMF solution</a:t>
            </a:r>
          </a:p>
          <a:p>
            <a:pPr marL="342900" indent="-228600">
              <a:spcAft>
                <a:spcPts val="600"/>
              </a:spcAft>
              <a:buChar char="•"/>
            </a:pPr>
            <a:r>
              <a:rPr dirty="0">
                <a:solidFill>
                  <a:srgbClr val="444C5A"/>
                </a:solidFill>
                <a:latin typeface="Calibri"/>
              </a:rPr>
              <a:t>N2 (exocrine): </a:t>
            </a:r>
            <a:r>
              <a:rPr lang="en-US" dirty="0">
                <a:solidFill>
                  <a:srgbClr val="444C5A"/>
                </a:solidFill>
                <a:latin typeface="Calibri"/>
              </a:rPr>
              <a:t>moderate positive correlation with D3 (Basal-like)</a:t>
            </a:r>
            <a:br>
              <a:rPr dirty="0">
                <a:solidFill>
                  <a:srgbClr val="444C5A"/>
                </a:solidFill>
                <a:latin typeface="Calibri"/>
              </a:rPr>
            </a:br>
            <a:r>
              <a:rPr dirty="0">
                <a:solidFill>
                  <a:srgbClr val="444C5A"/>
                </a:solidFill>
                <a:latin typeface="Calibri"/>
              </a:rPr>
              <a:t>→ exocrine signal suppressed by </a:t>
            </a:r>
            <a:r>
              <a:rPr dirty="0" err="1">
                <a:solidFill>
                  <a:srgbClr val="444C5A"/>
                </a:solidFill>
                <a:latin typeface="Calibri"/>
              </a:rPr>
              <a:t>DeSurv</a:t>
            </a:r>
            <a:endParaRPr dirty="0">
              <a:solidFill>
                <a:srgbClr val="444C5A"/>
              </a:solidFill>
              <a:latin typeface="Calibri"/>
            </a:endParaRPr>
          </a:p>
          <a:p>
            <a:pPr marL="342900" indent="-228600">
              <a:spcAft>
                <a:spcPts val="600"/>
              </a:spcAft>
              <a:buChar char="•"/>
            </a:pPr>
            <a:r>
              <a:rPr dirty="0">
                <a:solidFill>
                  <a:srgbClr val="444C5A"/>
                </a:solidFill>
                <a:latin typeface="Calibri"/>
              </a:rPr>
              <a:t>Two methods share some biology but differ on:</a:t>
            </a:r>
            <a:br>
              <a:rPr dirty="0">
                <a:solidFill>
                  <a:srgbClr val="444C5A"/>
                </a:solidFill>
                <a:latin typeface="Calibri"/>
              </a:rPr>
            </a:br>
            <a:r>
              <a:rPr dirty="0">
                <a:solidFill>
                  <a:srgbClr val="444C5A"/>
                </a:solidFill>
                <a:latin typeface="Calibri"/>
              </a:rPr>
              <a:t>exocrine suppression  &amp;  tumor-stroma coupling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910FC7F-EF0E-0330-5616-F2E4635EE3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072" t="63040"/>
          <a:stretch>
            <a:fillRect/>
          </a:stretch>
        </p:blipFill>
        <p:spPr>
          <a:xfrm>
            <a:off x="975006" y="1897906"/>
            <a:ext cx="4564557" cy="3673320"/>
          </a:xfrm>
          <a:prstGeom prst="rect">
            <a:avLst/>
          </a:prstGeom>
        </p:spPr>
      </p:pic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6580C7DC-3257-03AE-CBAE-3518E4CD7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735DF18-FC4A-4C60-8F3D-E4498E0F7F35}">
  <we:reference id="wa200010001" version="1.0.0.1" store="en-US" storeType="OMEX"/>
  <we:alternateReferences>
    <we:reference id="WA200010001" version="1.0.0.1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551</TotalTime>
  <Words>1546</Words>
  <Application>Microsoft Office PowerPoint</Application>
  <PresentationFormat>Custom</PresentationFormat>
  <Paragraphs>244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Young, Amber Marie</cp:lastModifiedBy>
  <cp:revision>6</cp:revision>
  <dcterms:created xsi:type="dcterms:W3CDTF">2013-01-27T09:14:16Z</dcterms:created>
  <dcterms:modified xsi:type="dcterms:W3CDTF">2026-03-16T17:55:49Z</dcterms:modified>
  <cp:category/>
</cp:coreProperties>
</file>